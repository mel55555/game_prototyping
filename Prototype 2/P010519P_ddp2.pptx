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56" r:id="rId5"/>
    <p:sldId id="257" r:id="rId6"/>
    <p:sldId id="258" r:id="rId7"/>
    <p:sldId id="259" r:id="rId8"/>
    <p:sldId id="260" r:id="rId9"/>
    <p:sldId id="261" r:id="rId10"/>
    <p:sldId id="262" r:id="rId11"/>
    <p:sldId id="263"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CC11A-19DC-45FE-A60F-A6801F0F5389}" v="13" dt="2026-05-08T17:13:02.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339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6B4484-2918-432D-AEA9-C72E81B09694}" type="datetimeFigureOut">
              <a:rPr lang="en-GB" smtClean="0"/>
              <a:t>08/05/2026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72DF0-7489-40BF-85EC-81EB76E4193B}" type="slidenum">
              <a:rPr lang="en-GB" smtClean="0"/>
              <a:t>‹#›</a:t>
            </a:fld>
            <a:endParaRPr lang="en-GB"/>
          </a:p>
        </p:txBody>
      </p:sp>
    </p:spTree>
    <p:extLst>
      <p:ext uri="{BB962C8B-B14F-4D97-AF65-F5344CB8AC3E}">
        <p14:creationId xmlns:p14="http://schemas.microsoft.com/office/powerpoint/2010/main" val="2270178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r>
              <a:rPr lang="en-GB" sz="3100"/>
              <a:t>Design Document Prototype 2</a:t>
            </a:r>
          </a:p>
        </p:txBody>
      </p:sp>
      <p:pic>
        <p:nvPicPr>
          <p:cNvPr id="5" name="Picture 4" descr="An arrow on a line map">
            <a:extLst>
              <a:ext uri="{FF2B5EF4-FFF2-40B4-BE49-F238E27FC236}">
                <a16:creationId xmlns:a16="http://schemas.microsoft.com/office/drawing/2014/main" id="{42433D76-7E30-5D07-28AB-606E88F4C39F}"/>
              </a:ext>
            </a:extLst>
          </p:cNvPr>
          <p:cNvPicPr>
            <a:picLocks noChangeAspect="1"/>
          </p:cNvPicPr>
          <p:nvPr/>
        </p:nvPicPr>
        <p:blipFill>
          <a:blip r:embed="rId2"/>
          <a:srcRect t="39206"/>
          <a:stretch>
            <a:fillRect/>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p:cNvSpPr>
            <a:spLocks noGrp="1"/>
          </p:cNvSpPr>
          <p:nvPr>
            <p:ph idx="1"/>
          </p:nvPr>
        </p:nvSpPr>
        <p:spPr>
          <a:xfrm>
            <a:off x="3167986" y="3752850"/>
            <a:ext cx="5614060" cy="2452687"/>
          </a:xfrm>
        </p:spPr>
        <p:txBody>
          <a:bodyPr anchor="ctr">
            <a:normAutofit/>
          </a:bodyPr>
          <a:lstStyle/>
          <a:p>
            <a:r>
              <a:rPr lang="en-GB" sz="1600"/>
              <a:t>Name: Edgar Pereira</a:t>
            </a:r>
          </a:p>
          <a:p>
            <a:r>
              <a:rPr lang="en-GB" sz="1600"/>
              <a:t>Username: P010519P</a:t>
            </a:r>
          </a:p>
          <a:p>
            <a:endParaRPr lang="en-US" sz="1600"/>
          </a:p>
          <a:p>
            <a:r>
              <a:rPr lang="en-US" sz="1600"/>
              <a:t>Procedural dune traversal prototype inspired by games such as Dune!, Journey and endless runner which are focused on momentum, physics and atmosphere.</a:t>
            </a:r>
          </a:p>
          <a:p>
            <a:endParaRPr lang="en-GB"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Game Mechanics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Autofit/>
          </a:bodyPr>
          <a:lstStyle/>
          <a:p>
            <a:pPr marL="0" indent="0">
              <a:buNone/>
            </a:pPr>
            <a:r>
              <a:rPr lang="en-US" sz="1050" dirty="0"/>
              <a:t>The game focuses on momentum-based movement where the player controls a ball travelling through procedurally generated sand dunes. Unlike my first prototype which focused on platforming, this prototype focuses more on physics, speed, satisfaction and flow. The player gains momentum by sliding down slopes and loses momentum when climbing upwards meaning movement constantly changes depending on terrain shape.</a:t>
            </a:r>
          </a:p>
          <a:p>
            <a:pPr marL="0" indent="0">
              <a:buNone/>
            </a:pPr>
            <a:r>
              <a:rPr lang="en-US" sz="1050" dirty="0"/>
              <a:t>The core mechanic is based around keeping speed and using the dunes properly. Holding input to increase gravity at the wrong time can remove momentum whilst landing correctly on slopes can massively increase speed/velocity. The player can also launch into the air for score multipliers if enough speed is built up.</a:t>
            </a:r>
          </a:p>
          <a:p>
            <a:pPr marL="0" indent="0">
              <a:buNone/>
            </a:pPr>
            <a:r>
              <a:rPr lang="en-US" sz="1050" dirty="0"/>
              <a:t>The terrain itself is procedurally generated using spline-based dune generation. This means the environment continues infinitely whilst changing shape over time, gradually getting harder. Earlier during development, I tried using a treadmill idea where around 10-20 terrain chunks would constantly recycle around the player instead of being destroyed. The goal of this was to save performance and reduce lag caused by constantly generating and deleting objects. I also experimented with moving the floor instead of the player to fake movement, but this became complicated with physics, so I instead focused on procedural generation.</a:t>
            </a:r>
          </a:p>
          <a:p>
            <a:pPr marL="0" indent="0">
              <a:buNone/>
            </a:pPr>
            <a:r>
              <a:rPr lang="en-US" sz="1050" dirty="0"/>
              <a:t>The game also includes a score system based on height reached. Players gain higher score multipliers when flying higher above the dunes which encourages risky play and maintaining momentum.</a:t>
            </a:r>
          </a:p>
          <a:p>
            <a:pPr marL="0" indent="0">
              <a:buNone/>
            </a:pPr>
            <a:r>
              <a:rPr lang="en-US" sz="1050" dirty="0"/>
              <a:t>Example code:</a:t>
            </a:r>
          </a:p>
          <a:p>
            <a:pPr marL="0" indent="0">
              <a:buNone/>
            </a:pPr>
            <a:endParaRPr lang="en-US" sz="1050" dirty="0"/>
          </a:p>
          <a:p>
            <a:pPr marL="0" indent="0">
              <a:buNone/>
            </a:pPr>
            <a:r>
              <a:rPr lang="en-US" sz="1050" dirty="0"/>
              <a:t>if (</a:t>
            </a:r>
            <a:r>
              <a:rPr lang="en-US" sz="1050" dirty="0" err="1"/>
              <a:t>player.position.y</a:t>
            </a:r>
            <a:r>
              <a:rPr lang="en-US" sz="1050" dirty="0"/>
              <a:t> &gt; </a:t>
            </a:r>
            <a:r>
              <a:rPr lang="en-US" sz="1050" dirty="0" err="1"/>
              <a:t>startMultiplierY</a:t>
            </a:r>
            <a:r>
              <a:rPr lang="en-US" sz="1050" dirty="0"/>
              <a:t>)</a:t>
            </a:r>
          </a:p>
          <a:p>
            <a:pPr marL="0" indent="0">
              <a:buNone/>
            </a:pPr>
            <a:r>
              <a:rPr lang="en-US" sz="1050" dirty="0"/>
              <a:t>{</a:t>
            </a:r>
          </a:p>
          <a:p>
            <a:pPr marL="0" indent="0">
              <a:buNone/>
            </a:pPr>
            <a:r>
              <a:rPr lang="en-US" sz="1050" dirty="0"/>
              <a:t>    float </a:t>
            </a:r>
            <a:r>
              <a:rPr lang="en-US" sz="1050" dirty="0" err="1"/>
              <a:t>extraHeight</a:t>
            </a:r>
            <a:r>
              <a:rPr lang="en-US" sz="1050" dirty="0"/>
              <a:t> = </a:t>
            </a:r>
            <a:r>
              <a:rPr lang="en-US" sz="1050" dirty="0" err="1"/>
              <a:t>player.position.y</a:t>
            </a:r>
            <a:r>
              <a:rPr lang="en-US" sz="1050" dirty="0"/>
              <a:t> - </a:t>
            </a:r>
            <a:r>
              <a:rPr lang="en-US" sz="1050" dirty="0" err="1"/>
              <a:t>startMultiplierY</a:t>
            </a:r>
            <a:r>
              <a:rPr lang="en-US" sz="1050" dirty="0"/>
              <a:t>;</a:t>
            </a:r>
          </a:p>
          <a:p>
            <a:pPr marL="0" indent="0">
              <a:buNone/>
            </a:pPr>
            <a:r>
              <a:rPr lang="en-US" sz="1050" dirty="0"/>
              <a:t>    </a:t>
            </a:r>
            <a:r>
              <a:rPr lang="en-US" sz="1050" dirty="0" err="1"/>
              <a:t>currentMultiplier</a:t>
            </a:r>
            <a:r>
              <a:rPr lang="en-US" sz="1050" dirty="0"/>
              <a:t> = 1 + </a:t>
            </a:r>
            <a:r>
              <a:rPr lang="en-US" sz="1050" dirty="0" err="1"/>
              <a:t>Mathf.FloorToInt</a:t>
            </a:r>
            <a:r>
              <a:rPr lang="en-US" sz="1050" dirty="0"/>
              <a:t>(</a:t>
            </a:r>
            <a:r>
              <a:rPr lang="en-US" sz="1050" dirty="0" err="1"/>
              <a:t>extraHeight</a:t>
            </a:r>
            <a:r>
              <a:rPr lang="en-US" sz="1050" dirty="0"/>
              <a:t> / </a:t>
            </a:r>
            <a:r>
              <a:rPr lang="en-US" sz="1050" dirty="0" err="1"/>
              <a:t>heightStep</a:t>
            </a:r>
            <a:r>
              <a:rPr lang="en-US" sz="1050" dirty="0"/>
              <a:t>);</a:t>
            </a:r>
          </a:p>
          <a:p>
            <a:pPr marL="0" indent="0">
              <a:buNone/>
            </a:pPr>
            <a:r>
              <a:rPr lang="en-US" sz="1050" dirty="0"/>
              <a:t>}</a:t>
            </a:r>
          </a:p>
          <a:p>
            <a:pPr marL="0" indent="0">
              <a:buNone/>
            </a:pPr>
            <a:endParaRPr lang="en-US" sz="1050" dirty="0"/>
          </a:p>
          <a:p>
            <a:pPr marL="0" indent="0">
              <a:buNone/>
            </a:pPr>
            <a:r>
              <a:rPr lang="en-US" sz="1050" dirty="0"/>
              <a:t>The movement and physics required a large amount of tweaking because initially the ball either lost too much speed or gained unrealistic momentum. I repeatedly compared the feel of my prototype to the original mobile game inspiration and constantly adjusted gravity, drag and force values until movement felt satisfying/rewarding.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Objectives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fontScale="85000" lnSpcReduction="10000"/>
          </a:bodyPr>
          <a:lstStyle/>
          <a:p>
            <a:pPr marL="0" indent="0">
              <a:buNone/>
            </a:pPr>
            <a:r>
              <a:rPr lang="en-US" sz="2400" dirty="0"/>
              <a:t>The main objective is to survive the desert and continue travelling forward whilst maintaining momentum. Unlike other games with multiple levels, progression is based on score and distance travelled.</a:t>
            </a:r>
          </a:p>
          <a:p>
            <a:pPr marL="0" indent="0">
              <a:buNone/>
            </a:pPr>
            <a:r>
              <a:rPr lang="en-US" sz="2400" dirty="0"/>
              <a:t>The player starts after crashing deep within an abandoned desert wasteland. Through radio transmissions and dialogue the player slowly uncovers hints about what happened and attempts to escape. The game ends once the player reaches a target score of 50k and activates the ending sequence, although players can choose to continue endlessly afterwards.</a:t>
            </a:r>
          </a:p>
          <a:p>
            <a:pPr marL="0" indent="0">
              <a:buNone/>
            </a:pPr>
            <a:r>
              <a:rPr lang="en-US" sz="2400" dirty="0"/>
              <a:t>The game is designed around atmosphere and flow. Players are also encouraged to keep travelling further and improving their movement whilst uncovering more story and environmental storytelling.</a:t>
            </a:r>
          </a:p>
          <a:p>
            <a:pPr marL="0" indent="0">
              <a:buNone/>
            </a:pP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9144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40065"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68605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65125"/>
            <a:ext cx="7886700" cy="1325563"/>
          </a:xfrm>
        </p:spPr>
        <p:txBody>
          <a:bodyPr vert="horz" lIns="91440" tIns="45720" rIns="91440" bIns="45720" rtlCol="0" anchor="ctr">
            <a:normAutofit/>
          </a:bodyPr>
          <a:lstStyle/>
          <a:p>
            <a:pPr algn="l" defTabSz="914400">
              <a:lnSpc>
                <a:spcPct val="90000"/>
              </a:lnSpc>
            </a:pPr>
            <a:r>
              <a:rPr lang="en-US" kern="1200" dirty="0">
                <a:solidFill>
                  <a:schemeClr val="tx1"/>
                </a:solidFill>
                <a:latin typeface="+mj-lt"/>
                <a:ea typeface="+mj-ea"/>
                <a:cs typeface="+mj-cs"/>
              </a:rPr>
              <a:t>Core Gameplay Loop</a:t>
            </a:r>
          </a:p>
        </p:txBody>
      </p:sp>
      <p:sp>
        <p:nvSpPr>
          <p:cNvPr id="3" name="Content Placeholder 2"/>
          <p:cNvSpPr>
            <a:spLocks noGrp="1"/>
          </p:cNvSpPr>
          <p:nvPr>
            <p:ph idx="1"/>
          </p:nvPr>
        </p:nvSpPr>
        <p:spPr>
          <a:xfrm>
            <a:off x="628650" y="2010833"/>
            <a:ext cx="3822700" cy="4166130"/>
          </a:xfrm>
        </p:spPr>
        <p:txBody>
          <a:bodyPr vert="horz" lIns="91440" tIns="45720" rIns="91440" bIns="45720" rtlCol="0">
            <a:normAutofit/>
          </a:bodyPr>
          <a:lstStyle/>
          <a:p>
            <a:pPr marL="0" indent="0" defTabSz="914400">
              <a:lnSpc>
                <a:spcPct val="90000"/>
              </a:lnSpc>
              <a:buNone/>
            </a:pPr>
            <a:r>
              <a:rPr lang="en-US" sz="1800" dirty="0"/>
              <a:t>The gameplay loop is based on movement, momentum and survival.</a:t>
            </a:r>
            <a:endParaRPr lang="en-US" sz="1700" dirty="0"/>
          </a:p>
        </p:txBody>
      </p:sp>
      <p:sp>
        <p:nvSpPr>
          <p:cNvPr id="20" name="TextBox 19">
            <a:extLst>
              <a:ext uri="{FF2B5EF4-FFF2-40B4-BE49-F238E27FC236}">
                <a16:creationId xmlns:a16="http://schemas.microsoft.com/office/drawing/2014/main" id="{4A93CD7D-6277-0FC9-B50C-CF63C15E277F}"/>
              </a:ext>
            </a:extLst>
          </p:cNvPr>
          <p:cNvSpPr txBox="1"/>
          <p:nvPr/>
        </p:nvSpPr>
        <p:spPr>
          <a:xfrm>
            <a:off x="4656888" y="2010833"/>
            <a:ext cx="3822700" cy="4166130"/>
          </a:xfrm>
          <a:prstGeom prst="rect">
            <a:avLst/>
          </a:prstGeom>
        </p:spPr>
        <p:txBody>
          <a:bodyPr vert="horz" lIns="91440" tIns="45720" rIns="91440" bIns="45720" rtlCol="0">
            <a:normAutofit/>
          </a:bodyPr>
          <a:lstStyle/>
          <a:p>
            <a:pPr defTabSz="914400">
              <a:lnSpc>
                <a:spcPct val="90000"/>
              </a:lnSpc>
              <a:spcAft>
                <a:spcPts val="600"/>
              </a:spcAft>
            </a:pPr>
            <a:r>
              <a:rPr lang="en-US" sz="1600" dirty="0"/>
              <a:t>This gameplay loop constantly rewards players for improving movement whilst also creating relaxing but tense gameplay due to the increasing speed and effects.</a:t>
            </a:r>
          </a:p>
          <a:p>
            <a:pPr defTabSz="914400">
              <a:lnSpc>
                <a:spcPct val="90000"/>
              </a:lnSpc>
              <a:spcAft>
                <a:spcPts val="600"/>
              </a:spcAft>
            </a:pPr>
            <a:endParaRPr lang="en-US" sz="1700" dirty="0"/>
          </a:p>
        </p:txBody>
      </p:sp>
      <p:sp>
        <p:nvSpPr>
          <p:cNvPr id="21" name="Rectangle 20">
            <a:extLst>
              <a:ext uri="{FF2B5EF4-FFF2-40B4-BE49-F238E27FC236}">
                <a16:creationId xmlns:a16="http://schemas.microsoft.com/office/drawing/2014/main" id="{A8A48788-B4EB-9386-BD9E-F8E9165DB734}"/>
              </a:ext>
            </a:extLst>
          </p:cNvPr>
          <p:cNvSpPr/>
          <p:nvPr/>
        </p:nvSpPr>
        <p:spPr>
          <a:xfrm>
            <a:off x="628650" y="371830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dirty="0"/>
              <a:t>Spawn into desert</a:t>
            </a:r>
            <a:endParaRPr dirty="0"/>
          </a:p>
        </p:txBody>
      </p:sp>
      <p:sp>
        <p:nvSpPr>
          <p:cNvPr id="22" name="Rectangle 21">
            <a:extLst>
              <a:ext uri="{FF2B5EF4-FFF2-40B4-BE49-F238E27FC236}">
                <a16:creationId xmlns:a16="http://schemas.microsoft.com/office/drawing/2014/main" id="{5E93F884-A4F7-F00D-B9D5-9C58ABDFD12C}"/>
              </a:ext>
            </a:extLst>
          </p:cNvPr>
          <p:cNvSpPr/>
          <p:nvPr/>
        </p:nvSpPr>
        <p:spPr>
          <a:xfrm>
            <a:off x="2274570" y="371830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200" dirty="0"/>
              <a:t>Build momentum through dunes</a:t>
            </a:r>
            <a:endParaRPr sz="1200" dirty="0"/>
          </a:p>
        </p:txBody>
      </p:sp>
      <p:sp>
        <p:nvSpPr>
          <p:cNvPr id="23" name="Rectangle 22">
            <a:extLst>
              <a:ext uri="{FF2B5EF4-FFF2-40B4-BE49-F238E27FC236}">
                <a16:creationId xmlns:a16="http://schemas.microsoft.com/office/drawing/2014/main" id="{F9D6D333-5425-73C3-951D-842E38840E78}"/>
              </a:ext>
            </a:extLst>
          </p:cNvPr>
          <p:cNvSpPr/>
          <p:nvPr/>
        </p:nvSpPr>
        <p:spPr>
          <a:xfrm>
            <a:off x="3920489" y="371830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dirty="0"/>
              <a:t>Launch into air</a:t>
            </a:r>
            <a:endParaRPr dirty="0"/>
          </a:p>
        </p:txBody>
      </p:sp>
      <p:sp>
        <p:nvSpPr>
          <p:cNvPr id="24" name="Rectangle 23">
            <a:extLst>
              <a:ext uri="{FF2B5EF4-FFF2-40B4-BE49-F238E27FC236}">
                <a16:creationId xmlns:a16="http://schemas.microsoft.com/office/drawing/2014/main" id="{9E6A6940-2B5C-5916-D1DC-A3D6A0B203CD}"/>
              </a:ext>
            </a:extLst>
          </p:cNvPr>
          <p:cNvSpPr/>
          <p:nvPr/>
        </p:nvSpPr>
        <p:spPr>
          <a:xfrm>
            <a:off x="5566410" y="371830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dirty="0"/>
              <a:t>Gain score</a:t>
            </a:r>
            <a:endParaRPr dirty="0"/>
          </a:p>
        </p:txBody>
      </p:sp>
      <p:sp>
        <p:nvSpPr>
          <p:cNvPr id="26" name="Rectangle 25">
            <a:extLst>
              <a:ext uri="{FF2B5EF4-FFF2-40B4-BE49-F238E27FC236}">
                <a16:creationId xmlns:a16="http://schemas.microsoft.com/office/drawing/2014/main" id="{118CD332-349B-802B-0F71-98A639BF6278}"/>
              </a:ext>
            </a:extLst>
          </p:cNvPr>
          <p:cNvSpPr/>
          <p:nvPr/>
        </p:nvSpPr>
        <p:spPr>
          <a:xfrm>
            <a:off x="7212330" y="371830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dirty="0"/>
              <a:t>Avoid losing momentum</a:t>
            </a:r>
            <a:endParaRPr dirty="0"/>
          </a:p>
        </p:txBody>
      </p:sp>
      <p:cxnSp>
        <p:nvCxnSpPr>
          <p:cNvPr id="28" name="Straight Arrow Connector 27">
            <a:extLst>
              <a:ext uri="{FF2B5EF4-FFF2-40B4-BE49-F238E27FC236}">
                <a16:creationId xmlns:a16="http://schemas.microsoft.com/office/drawing/2014/main" id="{8498AF0E-1584-1C86-68E6-42081F049284}"/>
              </a:ext>
            </a:extLst>
          </p:cNvPr>
          <p:cNvCxnSpPr>
            <a:stCxn id="21" idx="3"/>
            <a:endCxn id="22" idx="1"/>
          </p:cNvCxnSpPr>
          <p:nvPr/>
        </p:nvCxnSpPr>
        <p:spPr>
          <a:xfrm>
            <a:off x="2000250" y="4038349"/>
            <a:ext cx="274320"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27A3E39-52EF-56F5-2E52-7515014A353E}"/>
              </a:ext>
            </a:extLst>
          </p:cNvPr>
          <p:cNvCxnSpPr>
            <a:stCxn id="22" idx="3"/>
            <a:endCxn id="23" idx="1"/>
          </p:cNvCxnSpPr>
          <p:nvPr/>
        </p:nvCxnSpPr>
        <p:spPr>
          <a:xfrm>
            <a:off x="3646170" y="4038349"/>
            <a:ext cx="274319"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2D9692A-A6B1-E621-05EF-0525BB06B748}"/>
              </a:ext>
            </a:extLst>
          </p:cNvPr>
          <p:cNvCxnSpPr>
            <a:stCxn id="23" idx="3"/>
            <a:endCxn id="24" idx="1"/>
          </p:cNvCxnSpPr>
          <p:nvPr/>
        </p:nvCxnSpPr>
        <p:spPr>
          <a:xfrm>
            <a:off x="5292089" y="4038349"/>
            <a:ext cx="274321"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EB623E3-8192-2011-C882-B344EE22D68D}"/>
              </a:ext>
            </a:extLst>
          </p:cNvPr>
          <p:cNvCxnSpPr>
            <a:stCxn id="24" idx="3"/>
            <a:endCxn id="26" idx="1"/>
          </p:cNvCxnSpPr>
          <p:nvPr/>
        </p:nvCxnSpPr>
        <p:spPr>
          <a:xfrm>
            <a:off x="6938010" y="4038349"/>
            <a:ext cx="274320"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8B0B8959-1AA4-1EF8-C2CB-2D65779E3762}"/>
              </a:ext>
            </a:extLst>
          </p:cNvPr>
          <p:cNvSpPr/>
          <p:nvPr/>
        </p:nvSpPr>
        <p:spPr>
          <a:xfrm>
            <a:off x="7212330" y="467532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600" dirty="0"/>
              <a:t>Reach higher distances</a:t>
            </a:r>
            <a:endParaRPr sz="1600" dirty="0"/>
          </a:p>
        </p:txBody>
      </p:sp>
      <p:sp>
        <p:nvSpPr>
          <p:cNvPr id="5" name="Rectangle 4">
            <a:extLst>
              <a:ext uri="{FF2B5EF4-FFF2-40B4-BE49-F238E27FC236}">
                <a16:creationId xmlns:a16="http://schemas.microsoft.com/office/drawing/2014/main" id="{89AA0289-DB35-CCAC-15ED-D7C9B0FE4B4E}"/>
              </a:ext>
            </a:extLst>
          </p:cNvPr>
          <p:cNvSpPr/>
          <p:nvPr/>
        </p:nvSpPr>
        <p:spPr>
          <a:xfrm>
            <a:off x="5566410" y="467532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600" dirty="0"/>
              <a:t>Unlock more story</a:t>
            </a:r>
            <a:endParaRPr sz="1600" dirty="0"/>
          </a:p>
        </p:txBody>
      </p:sp>
      <p:sp>
        <p:nvSpPr>
          <p:cNvPr id="6" name="Rectangle 5">
            <a:extLst>
              <a:ext uri="{FF2B5EF4-FFF2-40B4-BE49-F238E27FC236}">
                <a16:creationId xmlns:a16="http://schemas.microsoft.com/office/drawing/2014/main" id="{5622A1AA-7713-0DF0-0E7B-9DB91D48E7E0}"/>
              </a:ext>
            </a:extLst>
          </p:cNvPr>
          <p:cNvSpPr/>
          <p:nvPr/>
        </p:nvSpPr>
        <p:spPr>
          <a:xfrm>
            <a:off x="3920489" y="467532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600" dirty="0"/>
              <a:t>Choice</a:t>
            </a:r>
            <a:endParaRPr sz="1600" dirty="0"/>
          </a:p>
        </p:txBody>
      </p:sp>
      <p:sp>
        <p:nvSpPr>
          <p:cNvPr id="7" name="Rectangle 6">
            <a:extLst>
              <a:ext uri="{FF2B5EF4-FFF2-40B4-BE49-F238E27FC236}">
                <a16:creationId xmlns:a16="http://schemas.microsoft.com/office/drawing/2014/main" id="{6550C088-7254-2C14-A9C5-2743CA045E06}"/>
              </a:ext>
            </a:extLst>
          </p:cNvPr>
          <p:cNvSpPr/>
          <p:nvPr/>
        </p:nvSpPr>
        <p:spPr>
          <a:xfrm>
            <a:off x="3917518" y="563234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600" dirty="0"/>
              <a:t>Reach ending</a:t>
            </a:r>
            <a:endParaRPr sz="1600" dirty="0"/>
          </a:p>
        </p:txBody>
      </p:sp>
      <p:sp>
        <p:nvSpPr>
          <p:cNvPr id="8" name="Rectangle 7">
            <a:extLst>
              <a:ext uri="{FF2B5EF4-FFF2-40B4-BE49-F238E27FC236}">
                <a16:creationId xmlns:a16="http://schemas.microsoft.com/office/drawing/2014/main" id="{129CA967-035E-A123-875E-3CA0B9084F82}"/>
              </a:ext>
            </a:extLst>
          </p:cNvPr>
          <p:cNvSpPr/>
          <p:nvPr/>
        </p:nvSpPr>
        <p:spPr>
          <a:xfrm>
            <a:off x="2244954" y="4675329"/>
            <a:ext cx="1371600" cy="640080"/>
          </a:xfrm>
          <a:prstGeom prst="rect">
            <a:avLst/>
          </a:prstGeom>
          <a:solidFill>
            <a:schemeClr val="tx1">
              <a:lumMod val="5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600" dirty="0"/>
              <a:t>Continue endlessly</a:t>
            </a:r>
            <a:endParaRPr sz="1600" dirty="0"/>
          </a:p>
        </p:txBody>
      </p:sp>
      <p:cxnSp>
        <p:nvCxnSpPr>
          <p:cNvPr id="10" name="Straight Arrow Connector 9">
            <a:extLst>
              <a:ext uri="{FF2B5EF4-FFF2-40B4-BE49-F238E27FC236}">
                <a16:creationId xmlns:a16="http://schemas.microsoft.com/office/drawing/2014/main" id="{705F0A8B-5722-BC61-7209-C710EA74F601}"/>
              </a:ext>
            </a:extLst>
          </p:cNvPr>
          <p:cNvCxnSpPr>
            <a:stCxn id="26" idx="2"/>
            <a:endCxn id="4" idx="0"/>
          </p:cNvCxnSpPr>
          <p:nvPr/>
        </p:nvCxnSpPr>
        <p:spPr>
          <a:xfrm>
            <a:off x="7898130" y="4358389"/>
            <a:ext cx="0" cy="31694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59E2E27-E4A4-FE7F-1770-3B7A935D09D3}"/>
              </a:ext>
            </a:extLst>
          </p:cNvPr>
          <p:cNvCxnSpPr>
            <a:stCxn id="4" idx="1"/>
            <a:endCxn id="5" idx="3"/>
          </p:cNvCxnSpPr>
          <p:nvPr/>
        </p:nvCxnSpPr>
        <p:spPr>
          <a:xfrm flipH="1">
            <a:off x="6938010" y="4995369"/>
            <a:ext cx="274320"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49D8B77-A9F6-953A-911F-F6D7AE9E26B7}"/>
              </a:ext>
            </a:extLst>
          </p:cNvPr>
          <p:cNvCxnSpPr>
            <a:stCxn id="5" idx="1"/>
            <a:endCxn id="6" idx="3"/>
          </p:cNvCxnSpPr>
          <p:nvPr/>
        </p:nvCxnSpPr>
        <p:spPr>
          <a:xfrm flipH="1">
            <a:off x="5292089" y="4995369"/>
            <a:ext cx="274321"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C735A10-B618-DD94-2330-1C3CD35AE3B9}"/>
              </a:ext>
            </a:extLst>
          </p:cNvPr>
          <p:cNvCxnSpPr>
            <a:stCxn id="6" idx="2"/>
            <a:endCxn id="7" idx="0"/>
          </p:cNvCxnSpPr>
          <p:nvPr/>
        </p:nvCxnSpPr>
        <p:spPr>
          <a:xfrm flipH="1">
            <a:off x="4603318" y="5315409"/>
            <a:ext cx="2971" cy="31694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2D26761-2C25-FDA8-B819-C98445ECFB42}"/>
              </a:ext>
            </a:extLst>
          </p:cNvPr>
          <p:cNvCxnSpPr>
            <a:stCxn id="6" idx="1"/>
            <a:endCxn id="8" idx="3"/>
          </p:cNvCxnSpPr>
          <p:nvPr/>
        </p:nvCxnSpPr>
        <p:spPr>
          <a:xfrm flipH="1">
            <a:off x="3616554" y="4995369"/>
            <a:ext cx="303935" cy="0"/>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80E149FF-546E-0691-EC54-7BF1D448DAF3}"/>
              </a:ext>
            </a:extLst>
          </p:cNvPr>
          <p:cNvCxnSpPr>
            <a:stCxn id="8" idx="1"/>
            <a:endCxn id="21" idx="1"/>
          </p:cNvCxnSpPr>
          <p:nvPr/>
        </p:nvCxnSpPr>
        <p:spPr>
          <a:xfrm rot="10800000">
            <a:off x="628650" y="4038349"/>
            <a:ext cx="1616304" cy="957020"/>
          </a:xfrm>
          <a:prstGeom prst="bentConnector3">
            <a:avLst>
              <a:gd name="adj1" fmla="val 114143"/>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2862072" cy="1938076"/>
          </a:xfrm>
        </p:spPr>
        <p:txBody>
          <a:bodyPr>
            <a:normAutofit/>
          </a:bodyPr>
          <a:lstStyle/>
          <a:p>
            <a:r>
              <a:rPr lang="en-GB"/>
              <a:t>Level Design</a:t>
            </a:r>
          </a:p>
        </p:txBody>
      </p:sp>
      <p:sp>
        <p:nvSpPr>
          <p:cNvPr id="3" name="Content Placeholder 2"/>
          <p:cNvSpPr>
            <a:spLocks noGrp="1"/>
          </p:cNvSpPr>
          <p:nvPr>
            <p:ph idx="1"/>
          </p:nvPr>
        </p:nvSpPr>
        <p:spPr>
          <a:xfrm>
            <a:off x="628650" y="2482589"/>
            <a:ext cx="2862072" cy="3694373"/>
          </a:xfrm>
        </p:spPr>
        <p:txBody>
          <a:bodyPr>
            <a:normAutofit/>
          </a:bodyPr>
          <a:lstStyle/>
          <a:p>
            <a:pPr marL="0" indent="0">
              <a:lnSpc>
                <a:spcPct val="90000"/>
              </a:lnSpc>
              <a:buNone/>
            </a:pPr>
            <a:r>
              <a:rPr lang="en-US" sz="1100"/>
              <a:t>The world uses endless procedural generation rather than a built level. Dunes are generated using Sprite Shape splines and randomized terrain points. The generation tries to create smooth slopes that naturally flow together so movement feels satisfying.</a:t>
            </a:r>
          </a:p>
          <a:p>
            <a:pPr marL="0" indent="0">
              <a:lnSpc>
                <a:spcPct val="90000"/>
              </a:lnSpc>
              <a:buNone/>
            </a:pPr>
            <a:r>
              <a:rPr lang="en-US" sz="1100"/>
              <a:t>At the start the dunes were either too steep or too sharp which caused physics issues and Sprite Shape tessellation errors. This happened because spline points were overlapping or placed too closely together. To solve this, I reduced point density and increased spacing between generated spline points.</a:t>
            </a:r>
          </a:p>
          <a:p>
            <a:pPr marL="0" indent="0">
              <a:lnSpc>
                <a:spcPct val="90000"/>
              </a:lnSpc>
              <a:buNone/>
            </a:pPr>
            <a:r>
              <a:rPr lang="en-US" sz="1100"/>
              <a:t>Visual design focuses heavily on minimalism. The environment uses large empty dunes, moving background, post processing and lighting to create a feeling of isolation. Music and radio effects also change over time, becoming more distorted as the player gets further.</a:t>
            </a:r>
          </a:p>
          <a:p>
            <a:pPr marL="0" indent="0">
              <a:lnSpc>
                <a:spcPct val="90000"/>
              </a:lnSpc>
              <a:buNone/>
            </a:pPr>
            <a:r>
              <a:rPr lang="en-US" sz="1100"/>
              <a:t>Tutorial prompts are shown at the beginning explaining movement controls and mechanics with a top score next to it at the end.</a:t>
            </a:r>
          </a:p>
          <a:p>
            <a:pPr marL="0" indent="0">
              <a:lnSpc>
                <a:spcPct val="90000"/>
              </a:lnSpc>
              <a:buNone/>
            </a:pPr>
            <a:endParaRPr lang="en-US" sz="1100"/>
          </a:p>
        </p:txBody>
      </p:sp>
      <p:pic>
        <p:nvPicPr>
          <p:cNvPr id="7" name="Picture 6">
            <a:extLst>
              <a:ext uri="{FF2B5EF4-FFF2-40B4-BE49-F238E27FC236}">
                <a16:creationId xmlns:a16="http://schemas.microsoft.com/office/drawing/2014/main" id="{3235855B-66F9-FD22-4FB5-21FAD94036EB}"/>
              </a:ext>
            </a:extLst>
          </p:cNvPr>
          <p:cNvPicPr>
            <a:picLocks noChangeAspect="1"/>
          </p:cNvPicPr>
          <p:nvPr/>
        </p:nvPicPr>
        <p:blipFill>
          <a:blip r:embed="rId2"/>
          <a:srcRect r="10491"/>
          <a:stretch>
            <a:fillRect/>
          </a:stretch>
        </p:blipFill>
        <p:spPr>
          <a:xfrm>
            <a:off x="3683568" y="-4"/>
            <a:ext cx="5465763"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9" name="Picture 8">
            <a:extLst>
              <a:ext uri="{FF2B5EF4-FFF2-40B4-BE49-F238E27FC236}">
                <a16:creationId xmlns:a16="http://schemas.microsoft.com/office/drawing/2014/main" id="{6F2C86A5-E8A3-9A12-2DC8-FAA0A50ABDC4}"/>
              </a:ext>
            </a:extLst>
          </p:cNvPr>
          <p:cNvPicPr>
            <a:picLocks noChangeAspect="1"/>
          </p:cNvPicPr>
          <p:nvPr/>
        </p:nvPicPr>
        <p:blipFill>
          <a:blip r:embed="rId3"/>
          <a:srcRect l="24842" r="5449"/>
          <a:stretch>
            <a:fillRect/>
          </a:stretch>
        </p:blipFill>
        <p:spPr>
          <a:xfrm>
            <a:off x="3545046" y="3802961"/>
            <a:ext cx="5604285"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cxnSp>
        <p:nvCxnSpPr>
          <p:cNvPr id="15" name="Straight Arrow Connector 14">
            <a:extLst>
              <a:ext uri="{FF2B5EF4-FFF2-40B4-BE49-F238E27FC236}">
                <a16:creationId xmlns:a16="http://schemas.microsoft.com/office/drawing/2014/main" id="{DB388E44-1F30-02DF-2588-1853D1D4012F}"/>
              </a:ext>
            </a:extLst>
          </p:cNvPr>
          <p:cNvCxnSpPr/>
          <p:nvPr/>
        </p:nvCxnSpPr>
        <p:spPr>
          <a:xfrm flipV="1">
            <a:off x="6416449" y="3086658"/>
            <a:ext cx="309967" cy="1195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5EBCC94-2F5A-47E4-3526-74F29F5BD96E}"/>
              </a:ext>
            </a:extLst>
          </p:cNvPr>
          <p:cNvCxnSpPr/>
          <p:nvPr/>
        </p:nvCxnSpPr>
        <p:spPr>
          <a:xfrm flipH="1">
            <a:off x="4255305" y="4371278"/>
            <a:ext cx="1940313" cy="138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25DDC8A-492C-31D7-17CF-FFB822C7D2A2}"/>
              </a:ext>
            </a:extLst>
          </p:cNvPr>
          <p:cNvSpPr txBox="1"/>
          <p:nvPr/>
        </p:nvSpPr>
        <p:spPr>
          <a:xfrm>
            <a:off x="6146438" y="4205995"/>
            <a:ext cx="759439" cy="369332"/>
          </a:xfrm>
          <a:prstGeom prst="rect">
            <a:avLst/>
          </a:prstGeom>
          <a:noFill/>
        </p:spPr>
        <p:txBody>
          <a:bodyPr wrap="none" rtlCol="0">
            <a:spAutoFit/>
          </a:bodyPr>
          <a:lstStyle/>
          <a:p>
            <a:r>
              <a:rPr lang="en-GB" dirty="0">
                <a:solidFill>
                  <a:schemeClr val="bg1"/>
                </a:solidFill>
              </a:rPr>
              <a:t>Player</a:t>
            </a:r>
          </a:p>
        </p:txBody>
      </p:sp>
      <p:cxnSp>
        <p:nvCxnSpPr>
          <p:cNvPr id="22" name="Straight Arrow Connector 21">
            <a:extLst>
              <a:ext uri="{FF2B5EF4-FFF2-40B4-BE49-F238E27FC236}">
                <a16:creationId xmlns:a16="http://schemas.microsoft.com/office/drawing/2014/main" id="{C3A6A5B5-D4FE-CF56-CA9D-DFB6E6A0BAD0}"/>
              </a:ext>
            </a:extLst>
          </p:cNvPr>
          <p:cNvCxnSpPr/>
          <p:nvPr/>
        </p:nvCxnSpPr>
        <p:spPr>
          <a:xfrm flipV="1">
            <a:off x="6976203" y="4509553"/>
            <a:ext cx="392523" cy="9233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61876F3-D434-28B5-71ED-CBEAB417C8D7}"/>
              </a:ext>
            </a:extLst>
          </p:cNvPr>
          <p:cNvSpPr txBox="1"/>
          <p:nvPr/>
        </p:nvSpPr>
        <p:spPr>
          <a:xfrm>
            <a:off x="7035768" y="3882829"/>
            <a:ext cx="2018566" cy="646331"/>
          </a:xfrm>
          <a:prstGeom prst="rect">
            <a:avLst/>
          </a:prstGeom>
          <a:noFill/>
        </p:spPr>
        <p:txBody>
          <a:bodyPr wrap="none" rtlCol="0">
            <a:spAutoFit/>
          </a:bodyPr>
          <a:lstStyle/>
          <a:p>
            <a:r>
              <a:rPr lang="en-GB" sz="1200" dirty="0">
                <a:solidFill>
                  <a:schemeClr val="bg1"/>
                </a:solidFill>
              </a:rPr>
              <a:t>Basic Dunes that have </a:t>
            </a:r>
          </a:p>
          <a:p>
            <a:r>
              <a:rPr lang="en-GB" sz="1200" dirty="0">
                <a:solidFill>
                  <a:schemeClr val="bg1"/>
                </a:solidFill>
              </a:rPr>
              <a:t>Been generated by my spline </a:t>
            </a:r>
          </a:p>
          <a:p>
            <a:r>
              <a:rPr lang="en-GB" sz="1200" dirty="0">
                <a:solidFill>
                  <a:schemeClr val="bg1"/>
                </a:solidFill>
              </a:rPr>
              <a:t>script</a:t>
            </a:r>
          </a:p>
        </p:txBody>
      </p:sp>
      <p:cxnSp>
        <p:nvCxnSpPr>
          <p:cNvPr id="28" name="Straight Arrow Connector 27">
            <a:extLst>
              <a:ext uri="{FF2B5EF4-FFF2-40B4-BE49-F238E27FC236}">
                <a16:creationId xmlns:a16="http://schemas.microsoft.com/office/drawing/2014/main" id="{E4EB6682-A3F9-2DDC-F07F-D9A04CCFFE2D}"/>
              </a:ext>
            </a:extLst>
          </p:cNvPr>
          <p:cNvCxnSpPr>
            <a:cxnSpLocks/>
          </p:cNvCxnSpPr>
          <p:nvPr/>
        </p:nvCxnSpPr>
        <p:spPr>
          <a:xfrm flipH="1" flipV="1">
            <a:off x="5053733" y="2225783"/>
            <a:ext cx="337952" cy="530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D616366-2769-C9E2-A851-3DE05FF598D0}"/>
              </a:ext>
            </a:extLst>
          </p:cNvPr>
          <p:cNvCxnSpPr>
            <a:cxnSpLocks/>
          </p:cNvCxnSpPr>
          <p:nvPr/>
        </p:nvCxnSpPr>
        <p:spPr>
          <a:xfrm flipV="1">
            <a:off x="5531005" y="2225783"/>
            <a:ext cx="1040427" cy="5676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3A02BA05-F45B-7789-0A6F-AA02C97C8258}"/>
              </a:ext>
            </a:extLst>
          </p:cNvPr>
          <p:cNvCxnSpPr/>
          <p:nvPr/>
        </p:nvCxnSpPr>
        <p:spPr>
          <a:xfrm flipV="1">
            <a:off x="5584531" y="2194560"/>
            <a:ext cx="2573701" cy="7225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7912D86-90B6-87D4-F044-2E276248BFF5}"/>
              </a:ext>
            </a:extLst>
          </p:cNvPr>
          <p:cNvSpPr txBox="1"/>
          <p:nvPr/>
        </p:nvSpPr>
        <p:spPr>
          <a:xfrm>
            <a:off x="4179018" y="2713110"/>
            <a:ext cx="1405513" cy="369332"/>
          </a:xfrm>
          <a:prstGeom prst="rect">
            <a:avLst/>
          </a:prstGeom>
          <a:noFill/>
        </p:spPr>
        <p:txBody>
          <a:bodyPr wrap="none" rtlCol="0">
            <a:spAutoFit/>
          </a:bodyPr>
          <a:lstStyle/>
          <a:p>
            <a:r>
              <a:rPr lang="en-GB" dirty="0">
                <a:solidFill>
                  <a:schemeClr val="bg1"/>
                </a:solidFill>
              </a:rPr>
              <a:t>Basic tutorial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Rectangle 20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966140" y="282800"/>
            <a:ext cx="3537174" cy="1288673"/>
          </a:xfrm>
        </p:spPr>
        <p:txBody>
          <a:bodyPr anchor="b">
            <a:normAutofit/>
          </a:bodyPr>
          <a:lstStyle/>
          <a:p>
            <a:pPr>
              <a:lnSpc>
                <a:spcPct val="90000"/>
              </a:lnSpc>
            </a:pPr>
            <a:r>
              <a:rPr lang="en-GB" sz="4100">
                <a:solidFill>
                  <a:schemeClr val="bg1"/>
                </a:solidFill>
              </a:rPr>
              <a:t>Systems Development</a:t>
            </a:r>
          </a:p>
        </p:txBody>
      </p:sp>
      <p:sp>
        <p:nvSpPr>
          <p:cNvPr id="209" name="Oval 208">
            <a:extLst>
              <a:ext uri="{FF2B5EF4-FFF2-40B4-BE49-F238E27FC236}">
                <a16:creationId xmlns:a16="http://schemas.microsoft.com/office/drawing/2014/main" id="{037C701E-5151-4086-9CF2-7F44AA38A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6652" y="618698"/>
            <a:ext cx="273766"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1" name="Oval 210">
            <a:extLst>
              <a:ext uri="{FF2B5EF4-FFF2-40B4-BE49-F238E27FC236}">
                <a16:creationId xmlns:a16="http://schemas.microsoft.com/office/drawing/2014/main" id="{E656C08E-A84B-4C76-9D3B-46237B5A9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6652" y="618698"/>
            <a:ext cx="273766"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6" name="Graphic 15" descr="Laptop Secure">
            <a:extLst>
              <a:ext uri="{FF2B5EF4-FFF2-40B4-BE49-F238E27FC236}">
                <a16:creationId xmlns:a16="http://schemas.microsoft.com/office/drawing/2014/main" id="{A341F45F-72F8-D007-AC14-D4E84C1D6E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0686" y="322504"/>
            <a:ext cx="2931037" cy="2931037"/>
          </a:xfrm>
          <a:prstGeom prst="rect">
            <a:avLst/>
          </a:prstGeom>
        </p:spPr>
      </p:pic>
      <p:pic>
        <p:nvPicPr>
          <p:cNvPr id="5" name="Picture 4">
            <a:extLst>
              <a:ext uri="{FF2B5EF4-FFF2-40B4-BE49-F238E27FC236}">
                <a16:creationId xmlns:a16="http://schemas.microsoft.com/office/drawing/2014/main" id="{FA9E619D-4359-66AC-3811-F1DA4875BC85}"/>
              </a:ext>
            </a:extLst>
          </p:cNvPr>
          <p:cNvPicPr>
            <a:picLocks noChangeAspect="1"/>
          </p:cNvPicPr>
          <p:nvPr/>
        </p:nvPicPr>
        <p:blipFill>
          <a:blip r:embed="rId3"/>
          <a:stretch>
            <a:fillRect/>
          </a:stretch>
        </p:blipFill>
        <p:spPr>
          <a:xfrm>
            <a:off x="640685" y="3376158"/>
            <a:ext cx="3448279" cy="2931037"/>
          </a:xfrm>
          <a:prstGeom prst="rect">
            <a:avLst/>
          </a:prstGeom>
        </p:spPr>
      </p:pic>
      <p:grpSp>
        <p:nvGrpSpPr>
          <p:cNvPr id="213" name="Graphic 4">
            <a:extLst>
              <a:ext uri="{FF2B5EF4-FFF2-40B4-BE49-F238E27FC236}">
                <a16:creationId xmlns:a16="http://schemas.microsoft.com/office/drawing/2014/main" id="{72FB3F6E-946C-4B30-8EAA-64FA3056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391" y="5091324"/>
            <a:ext cx="731374" cy="975171"/>
            <a:chOff x="5829300" y="3162300"/>
            <a:chExt cx="532256" cy="532257"/>
          </a:xfrm>
          <a:solidFill>
            <a:schemeClr val="bg1"/>
          </a:solidFill>
        </p:grpSpPr>
        <p:sp>
          <p:nvSpPr>
            <p:cNvPr id="214" name="Freeform: Shape 213">
              <a:extLst>
                <a:ext uri="{FF2B5EF4-FFF2-40B4-BE49-F238E27FC236}">
                  <a16:creationId xmlns:a16="http://schemas.microsoft.com/office/drawing/2014/main" id="{A820447A-FA0D-448D-8513-13647DCEE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980F5A0F-E8FC-415B-BA7F-74C42D42C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D77443A5-2061-492B-AFF5-658AB7E7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3276C0A3-C877-457C-917D-473FABC9E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D9808886-A26A-41C2-9401-727236349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9FB169C8-A66F-4AEC-BBEE-4DEBBE844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EEC418CD-F215-459D-8919-D5B5194EB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5E034A84-840E-429B-9A4F-ECC31AB62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6D050DBA-8800-4A73-84C0-34DC71A6B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2D4BF35D-BFFA-45A5-8081-FEDD30757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36B354BD-25DC-42A0-9CE7-8246868103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852C4A08-6644-42B7-8237-2AD5F0041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91D58C06-A184-4272-9824-2F0853518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3" name="Content Placeholder 2"/>
          <p:cNvSpPr>
            <a:spLocks noGrp="1"/>
          </p:cNvSpPr>
          <p:nvPr>
            <p:ph idx="1"/>
          </p:nvPr>
        </p:nvSpPr>
        <p:spPr>
          <a:xfrm>
            <a:off x="4966140" y="1715151"/>
            <a:ext cx="3537174" cy="4351338"/>
          </a:xfrm>
        </p:spPr>
        <p:txBody>
          <a:bodyPr>
            <a:normAutofit lnSpcReduction="10000"/>
          </a:bodyPr>
          <a:lstStyle/>
          <a:p>
            <a:pPr marL="0" indent="0">
              <a:lnSpc>
                <a:spcPct val="90000"/>
              </a:lnSpc>
              <a:buNone/>
            </a:pPr>
            <a:r>
              <a:rPr lang="en-GB" sz="800" dirty="0">
                <a:solidFill>
                  <a:schemeClr val="bg1"/>
                </a:solidFill>
              </a:rPr>
              <a:t>This prototype contains significantly more systems than my previous game. </a:t>
            </a:r>
          </a:p>
          <a:p>
            <a:pPr marL="0" indent="0">
              <a:lnSpc>
                <a:spcPct val="90000"/>
              </a:lnSpc>
              <a:buNone/>
            </a:pPr>
            <a:r>
              <a:rPr lang="en-GB" sz="800" dirty="0">
                <a:solidFill>
                  <a:schemeClr val="bg1"/>
                </a:solidFill>
              </a:rPr>
              <a:t>Some of the main systems include:</a:t>
            </a:r>
          </a:p>
          <a:p>
            <a:pPr marL="0" indent="0">
              <a:lnSpc>
                <a:spcPct val="90000"/>
              </a:lnSpc>
              <a:buNone/>
            </a:pPr>
            <a:r>
              <a:rPr lang="en-GB" sz="800" dirty="0">
                <a:solidFill>
                  <a:schemeClr val="bg1"/>
                </a:solidFill>
              </a:rPr>
              <a:t>- Procedural dune generation </a:t>
            </a:r>
          </a:p>
          <a:p>
            <a:pPr marL="0" indent="0">
              <a:lnSpc>
                <a:spcPct val="90000"/>
              </a:lnSpc>
              <a:buNone/>
            </a:pPr>
            <a:r>
              <a:rPr lang="en-GB" sz="800" dirty="0">
                <a:solidFill>
                  <a:schemeClr val="bg1"/>
                </a:solidFill>
              </a:rPr>
              <a:t>- Momentum based physics system </a:t>
            </a:r>
          </a:p>
          <a:p>
            <a:pPr marL="0" indent="0">
              <a:lnSpc>
                <a:spcPct val="90000"/>
              </a:lnSpc>
              <a:buNone/>
            </a:pPr>
            <a:r>
              <a:rPr lang="en-GB" sz="800" dirty="0">
                <a:solidFill>
                  <a:schemeClr val="bg1"/>
                </a:solidFill>
              </a:rPr>
              <a:t>- Score and multiplier system </a:t>
            </a:r>
          </a:p>
          <a:p>
            <a:pPr marL="0" indent="0">
              <a:lnSpc>
                <a:spcPct val="90000"/>
              </a:lnSpc>
              <a:buNone/>
            </a:pPr>
            <a:r>
              <a:rPr lang="en-GB" sz="800" dirty="0">
                <a:solidFill>
                  <a:schemeClr val="bg1"/>
                </a:solidFill>
              </a:rPr>
              <a:t>- Dialogue system </a:t>
            </a:r>
          </a:p>
          <a:p>
            <a:pPr marL="0" indent="0">
              <a:lnSpc>
                <a:spcPct val="90000"/>
              </a:lnSpc>
              <a:buNone/>
            </a:pPr>
            <a:r>
              <a:rPr lang="en-GB" sz="800" dirty="0">
                <a:solidFill>
                  <a:schemeClr val="bg1"/>
                </a:solidFill>
              </a:rPr>
              <a:t>- Dynamic music system </a:t>
            </a:r>
          </a:p>
          <a:p>
            <a:pPr marL="0" indent="0">
              <a:lnSpc>
                <a:spcPct val="90000"/>
              </a:lnSpc>
              <a:buNone/>
            </a:pPr>
            <a:r>
              <a:rPr lang="en-GB" sz="800" dirty="0">
                <a:solidFill>
                  <a:schemeClr val="bg1"/>
                </a:solidFill>
              </a:rPr>
              <a:t>- Radio distortion system </a:t>
            </a:r>
          </a:p>
          <a:p>
            <a:pPr marL="0" indent="0">
              <a:lnSpc>
                <a:spcPct val="90000"/>
              </a:lnSpc>
              <a:buNone/>
            </a:pPr>
            <a:r>
              <a:rPr lang="en-GB" sz="800" dirty="0">
                <a:solidFill>
                  <a:schemeClr val="bg1"/>
                </a:solidFill>
              </a:rPr>
              <a:t>- Pause menu </a:t>
            </a:r>
          </a:p>
          <a:p>
            <a:pPr marL="0" indent="0">
              <a:lnSpc>
                <a:spcPct val="90000"/>
              </a:lnSpc>
              <a:buNone/>
            </a:pPr>
            <a:r>
              <a:rPr lang="en-GB" sz="800" dirty="0">
                <a:solidFill>
                  <a:schemeClr val="bg1"/>
                </a:solidFill>
              </a:rPr>
              <a:t>- Story ending system </a:t>
            </a:r>
          </a:p>
          <a:p>
            <a:pPr marL="0" indent="0">
              <a:lnSpc>
                <a:spcPct val="90000"/>
              </a:lnSpc>
              <a:buNone/>
            </a:pPr>
            <a:r>
              <a:rPr lang="en-GB" sz="800" dirty="0">
                <a:solidFill>
                  <a:schemeClr val="bg1"/>
                </a:solidFill>
              </a:rPr>
              <a:t>- Post processing system </a:t>
            </a:r>
          </a:p>
          <a:p>
            <a:pPr marL="0" indent="0">
              <a:lnSpc>
                <a:spcPct val="90000"/>
              </a:lnSpc>
              <a:buNone/>
            </a:pPr>
            <a:endParaRPr lang="en-GB" sz="800" dirty="0">
              <a:solidFill>
                <a:schemeClr val="bg1"/>
              </a:solidFill>
            </a:endParaRPr>
          </a:p>
          <a:p>
            <a:pPr marL="0" indent="0">
              <a:lnSpc>
                <a:spcPct val="90000"/>
              </a:lnSpc>
              <a:buNone/>
            </a:pPr>
            <a:r>
              <a:rPr lang="en-GB" sz="800" dirty="0">
                <a:solidFill>
                  <a:schemeClr val="bg1"/>
                </a:solidFill>
              </a:rPr>
              <a:t>One important system is the procedural terrain generation. This generates dunes infinitely whilst trying to maintain smooth terrain. Another important system is the dynamic audio manager which changes music depending on player score and smoothly transitions between tracks.</a:t>
            </a:r>
          </a:p>
          <a:p>
            <a:pPr marL="0" indent="0">
              <a:lnSpc>
                <a:spcPct val="90000"/>
              </a:lnSpc>
              <a:buNone/>
            </a:pPr>
            <a:r>
              <a:rPr lang="en-GB" sz="800" dirty="0">
                <a:solidFill>
                  <a:schemeClr val="bg1"/>
                </a:solidFill>
              </a:rPr>
              <a:t>Example code:</a:t>
            </a:r>
          </a:p>
          <a:p>
            <a:pPr marL="0" indent="0">
              <a:lnSpc>
                <a:spcPct val="90000"/>
              </a:lnSpc>
              <a:buNone/>
            </a:pPr>
            <a:r>
              <a:rPr lang="en-GB" sz="800" dirty="0">
                <a:solidFill>
                  <a:schemeClr val="bg1"/>
                </a:solidFill>
              </a:rPr>
              <a:t>	</a:t>
            </a:r>
            <a:r>
              <a:rPr lang="en-GB" sz="800" dirty="0" err="1">
                <a:solidFill>
                  <a:schemeClr val="bg1"/>
                </a:solidFill>
              </a:rPr>
              <a:t>audioSource.volume</a:t>
            </a:r>
            <a:r>
              <a:rPr lang="en-GB" sz="800" dirty="0">
                <a:solidFill>
                  <a:schemeClr val="bg1"/>
                </a:solidFill>
              </a:rPr>
              <a:t> = </a:t>
            </a:r>
            <a:r>
              <a:rPr lang="en-GB" sz="800" dirty="0" err="1">
                <a:solidFill>
                  <a:schemeClr val="bg1"/>
                </a:solidFill>
              </a:rPr>
              <a:t>Mathf.Lerp</a:t>
            </a:r>
            <a:r>
              <a:rPr lang="en-GB" sz="800" dirty="0">
                <a:solidFill>
                  <a:schemeClr val="bg1"/>
                </a:solidFill>
              </a:rPr>
              <a:t>(</a:t>
            </a:r>
            <a:br>
              <a:rPr lang="en-GB" sz="800" dirty="0">
                <a:solidFill>
                  <a:schemeClr val="bg1"/>
                </a:solidFill>
              </a:rPr>
            </a:br>
            <a:r>
              <a:rPr lang="en-GB" sz="800" dirty="0">
                <a:solidFill>
                  <a:schemeClr val="bg1"/>
                </a:solidFill>
              </a:rPr>
              <a:t>    	</a:t>
            </a:r>
            <a:r>
              <a:rPr lang="en-GB" sz="800" dirty="0" err="1">
                <a:solidFill>
                  <a:schemeClr val="bg1"/>
                </a:solidFill>
              </a:rPr>
              <a:t>audioSource.volume</a:t>
            </a:r>
            <a:r>
              <a:rPr lang="en-GB" sz="800" dirty="0">
                <a:solidFill>
                  <a:schemeClr val="bg1"/>
                </a:solidFill>
              </a:rPr>
              <a:t>,</a:t>
            </a:r>
            <a:br>
              <a:rPr lang="en-GB" sz="800" dirty="0">
                <a:solidFill>
                  <a:schemeClr val="bg1"/>
                </a:solidFill>
              </a:rPr>
            </a:br>
            <a:r>
              <a:rPr lang="en-GB" sz="800" dirty="0">
                <a:solidFill>
                  <a:schemeClr val="bg1"/>
                </a:solidFill>
              </a:rPr>
              <a:t>    	</a:t>
            </a:r>
            <a:r>
              <a:rPr lang="en-GB" sz="800" dirty="0" err="1">
                <a:solidFill>
                  <a:schemeClr val="bg1"/>
                </a:solidFill>
              </a:rPr>
              <a:t>targetVolume</a:t>
            </a:r>
            <a:r>
              <a:rPr lang="en-GB" sz="800" dirty="0">
                <a:solidFill>
                  <a:schemeClr val="bg1"/>
                </a:solidFill>
              </a:rPr>
              <a:t>,</a:t>
            </a:r>
            <a:br>
              <a:rPr lang="en-GB" sz="800" dirty="0">
                <a:solidFill>
                  <a:schemeClr val="bg1"/>
                </a:solidFill>
              </a:rPr>
            </a:br>
            <a:r>
              <a:rPr lang="en-GB" sz="800" dirty="0">
                <a:solidFill>
                  <a:schemeClr val="bg1"/>
                </a:solidFill>
              </a:rPr>
              <a:t>    	</a:t>
            </a:r>
            <a:r>
              <a:rPr lang="en-GB" sz="800" dirty="0" err="1">
                <a:solidFill>
                  <a:schemeClr val="bg1"/>
                </a:solidFill>
              </a:rPr>
              <a:t>Time.deltaTime</a:t>
            </a:r>
            <a:r>
              <a:rPr lang="en-GB" sz="800" dirty="0">
                <a:solidFill>
                  <a:schemeClr val="bg1"/>
                </a:solidFill>
              </a:rPr>
              <a:t> * </a:t>
            </a:r>
            <a:r>
              <a:rPr lang="en-GB" sz="800" dirty="0" err="1">
                <a:solidFill>
                  <a:schemeClr val="bg1"/>
                </a:solidFill>
              </a:rPr>
              <a:t>fadeSpeed</a:t>
            </a:r>
            <a:br>
              <a:rPr lang="en-GB" sz="800" dirty="0">
                <a:solidFill>
                  <a:schemeClr val="bg1"/>
                </a:solidFill>
              </a:rPr>
            </a:br>
            <a:r>
              <a:rPr lang="en-GB" sz="800" dirty="0">
                <a:solidFill>
                  <a:schemeClr val="bg1"/>
                </a:solidFill>
              </a:rPr>
              <a:t>	);</a:t>
            </a:r>
          </a:p>
          <a:p>
            <a:pPr marL="0" indent="0">
              <a:lnSpc>
                <a:spcPct val="90000"/>
              </a:lnSpc>
              <a:buNone/>
            </a:pPr>
            <a:r>
              <a:rPr lang="en-GB" sz="800" dirty="0">
                <a:solidFill>
                  <a:schemeClr val="bg1"/>
                </a:solidFill>
              </a:rPr>
              <a:t>I also created a dialogue system where radio messages appear at specific scores. At the start messages are clear but later become heavily glitched and distorted to match the story progression.</a:t>
            </a:r>
          </a:p>
          <a:p>
            <a:pPr marL="0" indent="0">
              <a:lnSpc>
                <a:spcPct val="90000"/>
              </a:lnSpc>
              <a:buNone/>
            </a:pPr>
            <a:r>
              <a:rPr lang="en-GB" sz="800" dirty="0">
                <a:solidFill>
                  <a:schemeClr val="bg1"/>
                </a:solidFill>
              </a:rPr>
              <a:t>Example code:</a:t>
            </a:r>
          </a:p>
          <a:p>
            <a:pPr marL="0" indent="0">
              <a:lnSpc>
                <a:spcPct val="90000"/>
              </a:lnSpc>
              <a:buNone/>
            </a:pPr>
            <a:r>
              <a:rPr lang="en-GB" sz="800" dirty="0">
                <a:solidFill>
                  <a:schemeClr val="bg1"/>
                </a:solidFill>
              </a:rPr>
              <a:t>	if (</a:t>
            </a:r>
            <a:r>
              <a:rPr lang="en-GB" sz="800" dirty="0" err="1">
                <a:solidFill>
                  <a:schemeClr val="bg1"/>
                </a:solidFill>
              </a:rPr>
              <a:t>currentScore</a:t>
            </a:r>
            <a:r>
              <a:rPr lang="en-GB" sz="800" dirty="0">
                <a:solidFill>
                  <a:schemeClr val="bg1"/>
                </a:solidFill>
              </a:rPr>
              <a:t> &gt;= </a:t>
            </a:r>
            <a:r>
              <a:rPr lang="en-GB" sz="800" dirty="0" err="1">
                <a:solidFill>
                  <a:schemeClr val="bg1"/>
                </a:solidFill>
              </a:rPr>
              <a:t>dialogueList</a:t>
            </a:r>
            <a:r>
              <a:rPr lang="en-GB" sz="800" dirty="0">
                <a:solidFill>
                  <a:schemeClr val="bg1"/>
                </a:solidFill>
              </a:rPr>
              <a:t>[</a:t>
            </a:r>
            <a:r>
              <a:rPr lang="en-GB" sz="800" dirty="0" err="1">
                <a:solidFill>
                  <a:schemeClr val="bg1"/>
                </a:solidFill>
              </a:rPr>
              <a:t>dialogueIndex</a:t>
            </a:r>
            <a:r>
              <a:rPr lang="en-GB" sz="800" dirty="0">
                <a:solidFill>
                  <a:schemeClr val="bg1"/>
                </a:solidFill>
              </a:rPr>
              <a:t>].</a:t>
            </a:r>
            <a:r>
              <a:rPr lang="en-GB" sz="800" dirty="0" err="1">
                <a:solidFill>
                  <a:schemeClr val="bg1"/>
                </a:solidFill>
              </a:rPr>
              <a:t>scoreTrigger</a:t>
            </a:r>
            <a:r>
              <a:rPr lang="en-GB" sz="800" dirty="0">
                <a:solidFill>
                  <a:schemeClr val="bg1"/>
                </a:solidFill>
              </a:rPr>
              <a:t>)</a:t>
            </a:r>
            <a:br>
              <a:rPr lang="en-GB" sz="800" dirty="0">
                <a:solidFill>
                  <a:schemeClr val="bg1"/>
                </a:solidFill>
              </a:rPr>
            </a:br>
            <a:r>
              <a:rPr lang="en-GB" sz="800" dirty="0">
                <a:solidFill>
                  <a:schemeClr val="bg1"/>
                </a:solidFill>
              </a:rPr>
              <a:t>	{</a:t>
            </a:r>
            <a:br>
              <a:rPr lang="en-GB" sz="800" dirty="0">
                <a:solidFill>
                  <a:schemeClr val="bg1"/>
                </a:solidFill>
              </a:rPr>
            </a:br>
            <a:r>
              <a:rPr lang="en-GB" sz="800" dirty="0">
                <a:solidFill>
                  <a:schemeClr val="bg1"/>
                </a:solidFill>
              </a:rPr>
              <a:t>   	 </a:t>
            </a:r>
            <a:r>
              <a:rPr lang="en-GB" sz="800" dirty="0" err="1">
                <a:solidFill>
                  <a:schemeClr val="bg1"/>
                </a:solidFill>
              </a:rPr>
              <a:t>StartCoroutine</a:t>
            </a:r>
            <a:r>
              <a:rPr lang="en-GB" sz="800" dirty="0">
                <a:solidFill>
                  <a:schemeClr val="bg1"/>
                </a:solidFill>
              </a:rPr>
              <a:t>(</a:t>
            </a:r>
            <a:br>
              <a:rPr lang="en-GB" sz="800" dirty="0">
                <a:solidFill>
                  <a:schemeClr val="bg1"/>
                </a:solidFill>
              </a:rPr>
            </a:br>
            <a:r>
              <a:rPr lang="en-GB" sz="800" dirty="0">
                <a:solidFill>
                  <a:schemeClr val="bg1"/>
                </a:solidFill>
              </a:rPr>
              <a:t>    	    </a:t>
            </a:r>
            <a:r>
              <a:rPr lang="en-GB" sz="800" dirty="0" err="1">
                <a:solidFill>
                  <a:schemeClr val="bg1"/>
                </a:solidFill>
              </a:rPr>
              <a:t>PlayDialogue</a:t>
            </a:r>
            <a:r>
              <a:rPr lang="en-GB" sz="800" dirty="0">
                <a:solidFill>
                  <a:schemeClr val="bg1"/>
                </a:solidFill>
              </a:rPr>
              <a:t>(</a:t>
            </a:r>
            <a:r>
              <a:rPr lang="en-GB" sz="800" dirty="0" err="1">
                <a:solidFill>
                  <a:schemeClr val="bg1"/>
                </a:solidFill>
              </a:rPr>
              <a:t>dialogueList</a:t>
            </a:r>
            <a:r>
              <a:rPr lang="en-GB" sz="800" dirty="0">
                <a:solidFill>
                  <a:schemeClr val="bg1"/>
                </a:solidFill>
              </a:rPr>
              <a:t>[</a:t>
            </a:r>
            <a:r>
              <a:rPr lang="en-GB" sz="800" dirty="0" err="1">
                <a:solidFill>
                  <a:schemeClr val="bg1"/>
                </a:solidFill>
              </a:rPr>
              <a:t>dialogueIndex</a:t>
            </a:r>
            <a:r>
              <a:rPr lang="en-GB" sz="800" dirty="0">
                <a:solidFill>
                  <a:schemeClr val="bg1"/>
                </a:solidFill>
              </a:rPr>
              <a:t>].message)</a:t>
            </a:r>
            <a:br>
              <a:rPr lang="en-GB" sz="800" dirty="0">
                <a:solidFill>
                  <a:schemeClr val="bg1"/>
                </a:solidFill>
              </a:rPr>
            </a:br>
            <a:r>
              <a:rPr lang="en-GB" sz="800" dirty="0">
                <a:solidFill>
                  <a:schemeClr val="bg1"/>
                </a:solidFill>
              </a:rPr>
              <a:t>   	 );</a:t>
            </a:r>
            <a:br>
              <a:rPr lang="en-GB" sz="800" dirty="0">
                <a:solidFill>
                  <a:schemeClr val="bg1"/>
                </a:solidFill>
              </a:rPr>
            </a:br>
            <a:r>
              <a:rPr lang="en-GB" sz="800" dirty="0">
                <a:solidFill>
                  <a:schemeClr val="bg1"/>
                </a:solidFill>
              </a:rPr>
              <a:t>	}</a:t>
            </a:r>
          </a:p>
          <a:p>
            <a:pPr marL="0" indent="0">
              <a:lnSpc>
                <a:spcPct val="90000"/>
              </a:lnSpc>
              <a:buNone/>
            </a:pPr>
            <a:r>
              <a:rPr lang="en-GB" sz="800" dirty="0">
                <a:solidFill>
                  <a:schemeClr val="bg1"/>
                </a:solidFill>
              </a:rPr>
              <a:t>The dialogue system also includes typing effects, fade animations and radio sounds which become more corrupted over time. These small details added a lot to the story.</a:t>
            </a:r>
          </a:p>
          <a:p>
            <a:pPr marL="0" indent="0">
              <a:lnSpc>
                <a:spcPct val="90000"/>
              </a:lnSpc>
              <a:buNone/>
            </a:pPr>
            <a:endParaRPr lang="en-US" sz="8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600" dirty="0">
                <a:solidFill>
                  <a:schemeClr val="bg1"/>
                </a:solidFill>
              </a:rPr>
              <a:t>Story and Atmosphere</a:t>
            </a:r>
            <a:endParaRPr lang="en-GB" sz="3500"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8E67074-F814-E573-CEF6-00A1442C74EE}"/>
              </a:ext>
            </a:extLst>
          </p:cNvPr>
          <p:cNvSpPr txBox="1"/>
          <p:nvPr/>
        </p:nvSpPr>
        <p:spPr>
          <a:xfrm>
            <a:off x="238744" y="2207225"/>
            <a:ext cx="8666504" cy="4524315"/>
          </a:xfrm>
          <a:prstGeom prst="rect">
            <a:avLst/>
          </a:prstGeom>
          <a:noFill/>
        </p:spPr>
        <p:txBody>
          <a:bodyPr wrap="square" rtlCol="0">
            <a:spAutoFit/>
          </a:bodyPr>
          <a:lstStyle/>
          <a:p>
            <a:r>
              <a:rPr lang="en-US" dirty="0"/>
              <a:t>One weakness identified during feedback was that the game originally lacked story elements. To improve this, I added a narrative systems through dialogue, radio communication and an ending.</a:t>
            </a:r>
          </a:p>
          <a:p>
            <a:r>
              <a:rPr lang="en-US" dirty="0"/>
              <a:t>The player is implied to have crashed deep within the desert whilst attempting to reach a structure known as the Forge. Throughout gameplay a radio attempts to guide the player forward whilst transmissions become increasingly unstable.</a:t>
            </a:r>
          </a:p>
          <a:p>
            <a:r>
              <a:rPr lang="en-US" dirty="0"/>
              <a:t>At lower scores the radio sounds clear and understandable. At higher scores both the audio and text begin glitching heavily which visually reinforces the idea that systems are failing.</a:t>
            </a:r>
          </a:p>
          <a:p>
            <a:r>
              <a:rPr lang="en-US" dirty="0"/>
              <a:t>Example dialogue progression:</a:t>
            </a:r>
          </a:p>
          <a:p>
            <a:r>
              <a:rPr lang="en-US" dirty="0"/>
              <a:t>"Signal restored. Keep moving east."</a:t>
            </a:r>
          </a:p>
          <a:p>
            <a:r>
              <a:rPr lang="en-US" dirty="0"/>
              <a:t>"Energy levels stable. You are close now."</a:t>
            </a:r>
          </a:p>
          <a:p>
            <a:r>
              <a:rPr lang="en-US" dirty="0"/>
              <a:t>"</a:t>
            </a:r>
            <a:r>
              <a:rPr lang="en-US" dirty="0" err="1"/>
              <a:t>tr@nsmi</a:t>
            </a:r>
            <a:r>
              <a:rPr lang="en-US" dirty="0"/>
              <a:t>$$ion </a:t>
            </a:r>
            <a:r>
              <a:rPr lang="en-US" dirty="0" err="1"/>
              <a:t>corr%pted</a:t>
            </a:r>
            <a:r>
              <a:rPr lang="en-US" dirty="0"/>
              <a:t>..."</a:t>
            </a:r>
          </a:p>
          <a:p>
            <a:r>
              <a:rPr lang="en-US" dirty="0"/>
              <a:t>"y0u sh0uld n0t </a:t>
            </a:r>
            <a:r>
              <a:rPr lang="en-US" dirty="0" err="1"/>
              <a:t>h@ve</a:t>
            </a:r>
            <a:r>
              <a:rPr lang="en-US" dirty="0"/>
              <a:t> c0me h3re..."</a:t>
            </a:r>
          </a:p>
          <a:p>
            <a:r>
              <a:rPr lang="en-US" dirty="0"/>
              <a:t>This helped make the game feel more connected and atmospheric rather than just a sandbox game.</a:t>
            </a:r>
          </a:p>
          <a:p>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a:xfrm>
            <a:off x="971550" y="669925"/>
            <a:ext cx="3600450" cy="1325563"/>
          </a:xfrm>
        </p:spPr>
        <p:txBody>
          <a:bodyPr anchor="b">
            <a:normAutofit/>
          </a:bodyPr>
          <a:lstStyle/>
          <a:p>
            <a:pPr>
              <a:lnSpc>
                <a:spcPct val="90000"/>
              </a:lnSpc>
            </a:pPr>
            <a:r>
              <a:rPr lang="en-GB">
                <a:solidFill>
                  <a:schemeClr val="bg1"/>
                </a:solidFill>
              </a:rPr>
              <a:t>Problems and Solutions</a:t>
            </a:r>
          </a:p>
        </p:txBody>
      </p:sp>
      <p:cxnSp>
        <p:nvCxnSpPr>
          <p:cNvPr id="18" name="Straight Connector 17">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026340"/>
            <a:ext cx="457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971550" y="2288833"/>
            <a:ext cx="3600450" cy="3711571"/>
          </a:xfrm>
        </p:spPr>
        <p:txBody>
          <a:bodyPr>
            <a:normAutofit lnSpcReduction="10000"/>
          </a:bodyPr>
          <a:lstStyle/>
          <a:p>
            <a:pPr marL="0" indent="0">
              <a:lnSpc>
                <a:spcPct val="90000"/>
              </a:lnSpc>
              <a:buNone/>
            </a:pPr>
            <a:r>
              <a:rPr lang="en-US" sz="1100" dirty="0">
                <a:solidFill>
                  <a:schemeClr val="bg1"/>
                </a:solidFill>
              </a:rPr>
              <a:t>Several issues happened during development. One massive issue was balancing the physics system. Early versions either felt too floaty or completely killed momentum after landing. This made moving unsatisfying. I solved this through testing and tweaking gravity, drag and launch but this took a lot of my time.</a:t>
            </a:r>
          </a:p>
          <a:p>
            <a:pPr marL="0" indent="0">
              <a:lnSpc>
                <a:spcPct val="90000"/>
              </a:lnSpc>
              <a:buNone/>
            </a:pPr>
            <a:r>
              <a:rPr lang="en-US" sz="1100" dirty="0">
                <a:solidFill>
                  <a:schemeClr val="bg1"/>
                </a:solidFill>
              </a:rPr>
              <a:t>Another issue involved Unity Sprite Shape tessellation errors caused by spline points overlapping. Although the terrain still rendered correctly, Unity constantly displayed warnings. This was improved by reducing the amount of spline points and increasing spacing between them. I'm not sure if its worth fixing properly as the dunes render fine with the warning.</a:t>
            </a:r>
          </a:p>
          <a:p>
            <a:pPr marL="0" indent="0">
              <a:lnSpc>
                <a:spcPct val="90000"/>
              </a:lnSpc>
              <a:buNone/>
            </a:pPr>
            <a:r>
              <a:rPr lang="en-US" sz="1100" dirty="0">
                <a:solidFill>
                  <a:schemeClr val="bg1"/>
                </a:solidFill>
              </a:rPr>
              <a:t>UI systems also caused problems. At one point the pause menu resume button could not be pressed because another invisible UI object was blocking </a:t>
            </a:r>
            <a:r>
              <a:rPr lang="en-US" sz="1100" dirty="0" err="1">
                <a:solidFill>
                  <a:schemeClr val="bg1"/>
                </a:solidFill>
              </a:rPr>
              <a:t>raycasts</a:t>
            </a:r>
            <a:r>
              <a:rPr lang="en-US" sz="1100" dirty="0">
                <a:solidFill>
                  <a:schemeClr val="bg1"/>
                </a:solidFill>
              </a:rPr>
              <a:t>. This was fixed by checking the canvas hierarchy and </a:t>
            </a:r>
            <a:r>
              <a:rPr lang="en-US" sz="1100" dirty="0" err="1">
                <a:solidFill>
                  <a:schemeClr val="bg1"/>
                </a:solidFill>
              </a:rPr>
              <a:t>raycast</a:t>
            </a:r>
            <a:r>
              <a:rPr lang="en-US" sz="1100" dirty="0">
                <a:solidFill>
                  <a:schemeClr val="bg1"/>
                </a:solidFill>
              </a:rPr>
              <a:t> target settings.</a:t>
            </a:r>
          </a:p>
          <a:p>
            <a:pPr marL="0" indent="0">
              <a:lnSpc>
                <a:spcPct val="90000"/>
              </a:lnSpc>
              <a:buNone/>
            </a:pPr>
            <a:r>
              <a:rPr lang="en-US" sz="1100" dirty="0">
                <a:solidFill>
                  <a:schemeClr val="bg1"/>
                </a:solidFill>
              </a:rPr>
              <a:t>I also struggled with scope management. Compared to the first prototype this project became significantly more ambitious due to procedural generation, advanced physics, dynamic audio and story systems. Because of this I experienced burnout during weeks 2 and 3 after doing most major systems during week 1. This taught me the importance of controlling scope and planning development more realistically.</a:t>
            </a:r>
          </a:p>
          <a:p>
            <a:pPr marL="0" indent="0">
              <a:lnSpc>
                <a:spcPct val="90000"/>
              </a:lnSpc>
              <a:buNone/>
            </a:pPr>
            <a:endParaRPr lang="en-US" sz="1100" dirty="0">
              <a:solidFill>
                <a:schemeClr val="bg1"/>
              </a:solidFill>
            </a:endParaRPr>
          </a:p>
        </p:txBody>
      </p:sp>
      <p:pic>
        <p:nvPicPr>
          <p:cNvPr id="7" name="Picture 6">
            <a:extLst>
              <a:ext uri="{FF2B5EF4-FFF2-40B4-BE49-F238E27FC236}">
                <a16:creationId xmlns:a16="http://schemas.microsoft.com/office/drawing/2014/main" id="{9F151DAF-A651-F21A-B3A8-7DD0637C882A}"/>
              </a:ext>
            </a:extLst>
          </p:cNvPr>
          <p:cNvPicPr>
            <a:picLocks noChangeAspect="1"/>
          </p:cNvPicPr>
          <p:nvPr/>
        </p:nvPicPr>
        <p:blipFill>
          <a:blip r:embed="rId2"/>
          <a:stretch>
            <a:fillRect/>
          </a:stretch>
        </p:blipFill>
        <p:spPr>
          <a:xfrm>
            <a:off x="5355048" y="369913"/>
            <a:ext cx="1949172" cy="2784532"/>
          </a:xfrm>
          <a:prstGeom prst="rect">
            <a:avLst/>
          </a:prstGeom>
        </p:spPr>
      </p:pic>
      <p:sp>
        <p:nvSpPr>
          <p:cNvPr id="20" name="Rectangle 19">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3702" y="182859"/>
            <a:ext cx="2997196"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keyboard">
            <a:extLst>
              <a:ext uri="{FF2B5EF4-FFF2-40B4-BE49-F238E27FC236}">
                <a16:creationId xmlns:a16="http://schemas.microsoft.com/office/drawing/2014/main" id="{777E1F44-7085-7FE8-D113-16A145B0145E}"/>
              </a:ext>
            </a:extLst>
          </p:cNvPr>
          <p:cNvPicPr>
            <a:picLocks noChangeAspect="1"/>
          </p:cNvPicPr>
          <p:nvPr/>
        </p:nvPicPr>
        <p:blipFill>
          <a:blip r:embed="rId3"/>
          <a:srcRect l="20819" r="40871" b="1"/>
          <a:stretch>
            <a:fillRect/>
          </a:stretch>
        </p:blipFill>
        <p:spPr>
          <a:xfrm>
            <a:off x="6550978" y="3730267"/>
            <a:ext cx="1647513" cy="2784532"/>
          </a:xfrm>
          <a:prstGeom prst="rect">
            <a:avLst/>
          </a:prstGeom>
        </p:spPr>
      </p:pic>
      <p:sp>
        <p:nvSpPr>
          <p:cNvPr id="22" name="Rectangle 21">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8803" y="3543213"/>
            <a:ext cx="2997196"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E15C37-56E4-834D-50C8-C6BE70BE8DF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DD3C087-E0E4-B844-FC92-2AB60ECE9CF3}"/>
              </a:ext>
            </a:extLst>
          </p:cNvPr>
          <p:cNvPicPr>
            <a:picLocks noChangeAspect="1"/>
          </p:cNvPicPr>
          <p:nvPr/>
        </p:nvPicPr>
        <p:blipFill>
          <a:blip r:embed="rId2"/>
          <a:srcRect r="1" b="9535"/>
          <a:stretch>
            <a:fillRect/>
          </a:stretch>
        </p:blipFill>
        <p:spPr>
          <a:xfrm>
            <a:off x="20" y="10"/>
            <a:ext cx="9171076" cy="4666928"/>
          </a:xfrm>
          <a:prstGeom prst="rect">
            <a:avLst/>
          </a:prstGeom>
        </p:spPr>
      </p:pic>
      <p:grpSp>
        <p:nvGrpSpPr>
          <p:cNvPr id="9" name="Group 8">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2987478"/>
            <a:ext cx="9171095" cy="1828800"/>
            <a:chOff x="-305" y="2987478"/>
            <a:chExt cx="12188952" cy="1828800"/>
          </a:xfrm>
        </p:grpSpPr>
        <p:sp>
          <p:nvSpPr>
            <p:cNvPr id="14" name="Freeform: Shape 13">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7" name="Freeform: Shape 16">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A0F7F97A-8B20-6775-6D41-52D3D6BA8716}"/>
              </a:ext>
            </a:extLst>
          </p:cNvPr>
          <p:cNvSpPr>
            <a:spLocks noGrp="1"/>
          </p:cNvSpPr>
          <p:nvPr>
            <p:ph type="title"/>
          </p:nvPr>
        </p:nvSpPr>
        <p:spPr>
          <a:xfrm>
            <a:off x="603504" y="4551037"/>
            <a:ext cx="3766336" cy="1509931"/>
          </a:xfrm>
        </p:spPr>
        <p:txBody>
          <a:bodyPr>
            <a:normAutofit/>
          </a:bodyPr>
          <a:lstStyle/>
          <a:p>
            <a:r>
              <a:rPr lang="en-GB" sz="3100">
                <a:solidFill>
                  <a:schemeClr val="tx2"/>
                </a:solidFill>
              </a:rPr>
              <a:t>Testing and feedback</a:t>
            </a:r>
          </a:p>
        </p:txBody>
      </p:sp>
      <p:sp>
        <p:nvSpPr>
          <p:cNvPr id="3" name="Content Placeholder 2">
            <a:extLst>
              <a:ext uri="{FF2B5EF4-FFF2-40B4-BE49-F238E27FC236}">
                <a16:creationId xmlns:a16="http://schemas.microsoft.com/office/drawing/2014/main" id="{B90516C5-72F9-D16B-CE09-AF62B19A8F1A}"/>
              </a:ext>
            </a:extLst>
          </p:cNvPr>
          <p:cNvSpPr>
            <a:spLocks noGrp="1"/>
          </p:cNvSpPr>
          <p:nvPr>
            <p:ph idx="1"/>
          </p:nvPr>
        </p:nvSpPr>
        <p:spPr>
          <a:xfrm>
            <a:off x="4496171" y="4404182"/>
            <a:ext cx="4211899" cy="1958897"/>
          </a:xfrm>
        </p:spPr>
        <p:txBody>
          <a:bodyPr anchor="ctr">
            <a:normAutofit fontScale="62500" lnSpcReduction="20000"/>
          </a:bodyPr>
          <a:lstStyle/>
          <a:p>
            <a:pPr marL="0" indent="0">
              <a:lnSpc>
                <a:spcPct val="90000"/>
              </a:lnSpc>
              <a:buNone/>
            </a:pPr>
            <a:r>
              <a:rPr lang="en-US" sz="1700" dirty="0">
                <a:solidFill>
                  <a:schemeClr val="tx2"/>
                </a:solidFill>
              </a:rPr>
              <a:t>Testing was extremely important because momentum-based movement depends heavily on feel rather than visual. Feedback showed that players enjoyed the speed and atmosphere but most initially struggled understanding how the momentum worked. To test this wasn’t an issue with my game and more with the idea I also had people try the original Dune! Game and results were very similar.</a:t>
            </a:r>
          </a:p>
          <a:p>
            <a:pPr marL="0" indent="0">
              <a:lnSpc>
                <a:spcPct val="90000"/>
              </a:lnSpc>
              <a:buNone/>
            </a:pPr>
            <a:r>
              <a:rPr lang="en-US" sz="1700" dirty="0">
                <a:solidFill>
                  <a:schemeClr val="tx2"/>
                </a:solidFill>
              </a:rPr>
              <a:t>To improve this, I adjusted the starting terrain and added tutorial prompts explaining how slopes affect speed.</a:t>
            </a:r>
          </a:p>
          <a:p>
            <a:pPr marL="0" indent="0">
              <a:lnSpc>
                <a:spcPct val="90000"/>
              </a:lnSpc>
              <a:buNone/>
            </a:pPr>
            <a:r>
              <a:rPr lang="en-US" sz="1700" dirty="0">
                <a:solidFill>
                  <a:schemeClr val="tx2"/>
                </a:solidFill>
              </a:rPr>
              <a:t>Players also liked the creepy atmosphere, especially the distorted radio messages and evolving soundtrack (stole it from Elden Ring). The combination of music, procedural terrain and post processing helped create a sense of isolation.</a:t>
            </a:r>
          </a:p>
          <a:p>
            <a:pPr marL="0" indent="0">
              <a:lnSpc>
                <a:spcPct val="90000"/>
              </a:lnSpc>
              <a:buNone/>
            </a:pPr>
            <a:r>
              <a:rPr lang="en-US" sz="1700" dirty="0">
                <a:solidFill>
                  <a:schemeClr val="tx2"/>
                </a:solidFill>
              </a:rPr>
              <a:t>Some people mentioned that the procedural generation occasionally produced awkward terrain shapes, however overall feedback on the dune traversal was positive.</a:t>
            </a:r>
          </a:p>
          <a:p>
            <a:pPr marL="0" indent="0">
              <a:lnSpc>
                <a:spcPct val="90000"/>
              </a:lnSpc>
              <a:buNone/>
            </a:pPr>
            <a:endParaRPr lang="en-US" sz="600" dirty="0">
              <a:solidFill>
                <a:schemeClr val="tx2"/>
              </a:solidFill>
            </a:endParaRPr>
          </a:p>
        </p:txBody>
      </p:sp>
    </p:spTree>
    <p:extLst>
      <p:ext uri="{BB962C8B-B14F-4D97-AF65-F5344CB8AC3E}">
        <p14:creationId xmlns:p14="http://schemas.microsoft.com/office/powerpoint/2010/main" val="3333566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9d91fd9-ae3a-4064-a937-dbf050bebf3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B9C8717F8E4B40A91287DD8A3FABB9" ma:contentTypeVersion="8" ma:contentTypeDescription="Create a new document." ma:contentTypeScope="" ma:versionID="75c2af4645206b263bf309a5ea7e7795">
  <xsd:schema xmlns:xsd="http://www.w3.org/2001/XMLSchema" xmlns:xs="http://www.w3.org/2001/XMLSchema" xmlns:p="http://schemas.microsoft.com/office/2006/metadata/properties" xmlns:ns3="99d91fd9-ae3a-4064-a937-dbf050bebf39" targetNamespace="http://schemas.microsoft.com/office/2006/metadata/properties" ma:root="true" ma:fieldsID="a13bea77855efaf5cc4dfdc399c83a4e" ns3:_="">
    <xsd:import namespace="99d91fd9-ae3a-4064-a937-dbf050bebf3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d91fd9-ae3a-4064-a937-dbf050bebf3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_activity" ma:index="15"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F21AFC-E654-483F-9D31-B53207EEC9E8}">
  <ds:schemaRefs>
    <ds:schemaRef ds:uri="http://schemas.microsoft.com/office/2006/metadata/properties"/>
    <ds:schemaRef ds:uri="99d91fd9-ae3a-4064-a937-dbf050bebf39"/>
    <ds:schemaRef ds:uri="http://schemas.microsoft.com/office/2006/documentManagement/types"/>
    <ds:schemaRef ds:uri="http://purl.org/dc/terms/"/>
    <ds:schemaRef ds:uri="http://purl.org/dc/dcmitype/"/>
    <ds:schemaRef ds:uri="http://schemas.microsoft.com/office/infopath/2007/PartnerControls"/>
    <ds:schemaRef ds:uri="http://www.w3.org/XML/1998/namespace"/>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370150CF-304A-4DA1-9759-D358F40E8F85}">
  <ds:schemaRefs>
    <ds:schemaRef ds:uri="http://schemas.microsoft.com/sharepoint/v3/contenttype/forms"/>
  </ds:schemaRefs>
</ds:datastoreItem>
</file>

<file path=customXml/itemProps3.xml><?xml version="1.0" encoding="utf-8"?>
<ds:datastoreItem xmlns:ds="http://schemas.openxmlformats.org/officeDocument/2006/customXml" ds:itemID="{25C69927-3A9B-43EF-9069-E63F7AC714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d91fd9-ae3a-4064-a937-dbf050bebf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136</TotalTime>
  <Words>1515</Words>
  <Application>Microsoft Office PowerPoint</Application>
  <PresentationFormat>On-screen Show (4:3)</PresentationFormat>
  <Paragraphs>86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Design Document Prototype 2</vt:lpstr>
      <vt:lpstr>Game Mechanics</vt:lpstr>
      <vt:lpstr>Objectives</vt:lpstr>
      <vt:lpstr>Core Gameplay Loop</vt:lpstr>
      <vt:lpstr>Level Design</vt:lpstr>
      <vt:lpstr>Systems Development</vt:lpstr>
      <vt:lpstr>Story and Atmosphere</vt:lpstr>
      <vt:lpstr>Problems and Solutions</vt:lpstr>
      <vt:lpstr>Testing and feedback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edgar pereira</dc:creator>
  <cp:keywords/>
  <dc:description>generated using python-pptx</dc:description>
  <cp:lastModifiedBy>Edgar Pereira</cp:lastModifiedBy>
  <cp:revision>6</cp:revision>
  <dcterms:created xsi:type="dcterms:W3CDTF">2013-01-27T09:14:16Z</dcterms:created>
  <dcterms:modified xsi:type="dcterms:W3CDTF">2026-05-08T17:13:02Z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0x010100DAB9C8717F8E4B40A91287DD8A3FABB9</vt:lpwstr>
  </property>
</Properties>
</file>