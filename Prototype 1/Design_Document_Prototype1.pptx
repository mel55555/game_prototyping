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2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6B4484-2918-432D-AEA9-C72E81B09694}" type="datetimeFigureOut">
              <a:rPr lang="en-GB" smtClean="0"/>
              <a:t>08/05/2026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72DF0-7489-40BF-85EC-81EB76E4193B}" type="slidenum">
              <a:rPr lang="en-GB" smtClean="0"/>
              <a:t>‹#›</a:t>
            </a:fld>
            <a:endParaRPr lang="en-GB"/>
          </a:p>
        </p:txBody>
      </p:sp>
    </p:spTree>
    <p:extLst>
      <p:ext uri="{BB962C8B-B14F-4D97-AF65-F5344CB8AC3E}">
        <p14:creationId xmlns:p14="http://schemas.microsoft.com/office/powerpoint/2010/main" val="2270178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arrow on a line map">
            <a:extLst>
              <a:ext uri="{FF2B5EF4-FFF2-40B4-BE49-F238E27FC236}">
                <a16:creationId xmlns:a16="http://schemas.microsoft.com/office/drawing/2014/main" id="{42433D76-7E30-5D07-28AB-606E88F4C39F}"/>
              </a:ext>
            </a:extLst>
          </p:cNvPr>
          <p:cNvPicPr>
            <a:picLocks noChangeAspect="1"/>
          </p:cNvPicPr>
          <p:nvPr/>
        </p:nvPicPr>
        <p:blipFill>
          <a:blip r:embed="rId2"/>
          <a:srcRect l="2030" r="53521" b="-1"/>
          <a:stretch>
            <a:fillRect/>
          </a:stretch>
        </p:blipFill>
        <p:spPr>
          <a:xfrm>
            <a:off x="4577270" y="10"/>
            <a:ext cx="4566728"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35956" y="3369922"/>
            <a:ext cx="3494817" cy="2384898"/>
          </a:xfrm>
        </p:spPr>
        <p:txBody>
          <a:bodyPr anchor="ctr">
            <a:noAutofit/>
          </a:bodyPr>
          <a:lstStyle/>
          <a:p>
            <a:r>
              <a:rPr lang="en-GB" sz="2400" dirty="0"/>
              <a:t>Name: Edgar Pereira</a:t>
            </a:r>
          </a:p>
          <a:p>
            <a:r>
              <a:rPr lang="en-GB" sz="2400" dirty="0"/>
              <a:t>Username: P010519P</a:t>
            </a:r>
          </a:p>
          <a:p>
            <a:endParaRPr lang="en-GB" sz="2400" dirty="0"/>
          </a:p>
          <a:p>
            <a:r>
              <a:rPr lang="en-GB" sz="2400" dirty="0"/>
              <a:t>Rage platformer prototype inspired by Geometry Dash platformer mode.</a:t>
            </a:r>
          </a:p>
          <a:p>
            <a:r>
              <a:rPr lang="en-GB" sz="2400" dirty="0"/>
              <a:t>Focus is on precision, difficulty and simple visuals.</a:t>
            </a:r>
          </a:p>
        </p:txBody>
      </p:sp>
      <p:sp>
        <p:nvSpPr>
          <p:cNvPr id="4" name="Rectangle 3">
            <a:extLst>
              <a:ext uri="{FF2B5EF4-FFF2-40B4-BE49-F238E27FC236}">
                <a16:creationId xmlns:a16="http://schemas.microsoft.com/office/drawing/2014/main" id="{84375AA5-8209-5D12-7DFD-297AF1A5108E}"/>
              </a:ext>
            </a:extLst>
          </p:cNvPr>
          <p:cNvSpPr/>
          <p:nvPr/>
        </p:nvSpPr>
        <p:spPr>
          <a:xfrm>
            <a:off x="1" y="-5"/>
            <a:ext cx="4566728" cy="2286000"/>
          </a:xfrm>
          <a:prstGeom prst="rect">
            <a:avLst/>
          </a:prstGeom>
          <a:solidFill>
            <a:srgbClr val="262626"/>
          </a:solidFill>
          <a:ln>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571350" y="328512"/>
            <a:ext cx="3583791" cy="1628970"/>
          </a:xfrm>
        </p:spPr>
        <p:txBody>
          <a:bodyPr anchor="ctr">
            <a:normAutofit/>
          </a:bodyPr>
          <a:lstStyle/>
          <a:p>
            <a:r>
              <a:rPr lang="en-GB" sz="3500" dirty="0">
                <a:solidFill>
                  <a:schemeClr val="bg1"/>
                </a:solidFill>
              </a:rPr>
              <a:t>Design Document Prototype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Game Mechanics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pPr marL="0" indent="0">
              <a:buNone/>
            </a:pPr>
            <a:r>
              <a:rPr lang="en-US" sz="2100"/>
              <a:t>The game focuses on simple movement mechanics including horizontal movement, jumping and double jumping. These mechanics are intentionally simple due to requirements but still require precision and practice. The double jump allows for more complex level design and increases the skill ceiling. Collision detection ensures jumps reset properly, creating a consistent experience. The mechanics were tested many times, and adjusted to avoid floaty/slow movement and instead feel responsive and controlled.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Objectives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pPr marL="0" indent="0">
              <a:buNone/>
            </a:pPr>
            <a:r>
              <a:rPr lang="en-US" sz="2100"/>
              <a:t>The objective is to complete each level by reaching the end without getting hot by a spike trap once. The player must avoid falling and time jumps correctly. The design encourages trial and error rather than any rewards or scoring systems. Difficulty increases across levels, forcing players to learn patterns and improve their timing whilst also introducing new traps and mechanics. The goal is to create a frustrating experience that gives the player a sense of satisfaction upon completion.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9144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40065"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68605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65125"/>
            <a:ext cx="7886700" cy="1325563"/>
          </a:xfrm>
        </p:spPr>
        <p:txBody>
          <a:bodyPr vert="horz" lIns="91440" tIns="45720" rIns="91440" bIns="45720" rtlCol="0" anchor="ctr">
            <a:normAutofit/>
          </a:bodyPr>
          <a:lstStyle/>
          <a:p>
            <a:pPr algn="l" defTabSz="914400">
              <a:lnSpc>
                <a:spcPct val="90000"/>
              </a:lnSpc>
            </a:pPr>
            <a:r>
              <a:rPr lang="en-US" kern="1200">
                <a:solidFill>
                  <a:schemeClr val="tx1"/>
                </a:solidFill>
                <a:latin typeface="+mj-lt"/>
                <a:ea typeface="+mj-ea"/>
                <a:cs typeface="+mj-cs"/>
              </a:rPr>
              <a:t>Core Gameplay Loop</a:t>
            </a:r>
          </a:p>
        </p:txBody>
      </p:sp>
      <p:sp>
        <p:nvSpPr>
          <p:cNvPr id="3" name="Content Placeholder 2"/>
          <p:cNvSpPr>
            <a:spLocks noGrp="1"/>
          </p:cNvSpPr>
          <p:nvPr>
            <p:ph idx="1"/>
          </p:nvPr>
        </p:nvSpPr>
        <p:spPr>
          <a:xfrm>
            <a:off x="628650" y="2010833"/>
            <a:ext cx="3822700" cy="4166130"/>
          </a:xfrm>
        </p:spPr>
        <p:txBody>
          <a:bodyPr vert="horz" lIns="91440" tIns="45720" rIns="91440" bIns="45720" rtlCol="0">
            <a:normAutofit/>
          </a:bodyPr>
          <a:lstStyle/>
          <a:p>
            <a:pPr marL="0" indent="-228600" defTabSz="914400">
              <a:lnSpc>
                <a:spcPct val="90000"/>
              </a:lnSpc>
              <a:buFont typeface="Arial" panose="020B0604020202020204" pitchFamily="34" charset="0"/>
              <a:buChar char="•"/>
            </a:pPr>
            <a:r>
              <a:rPr lang="en-US" sz="1700" dirty="0"/>
              <a:t>The gameplay loop is based on repetition. The player starts a level, attempts to complete it, fails and retries. Over time the player learns the layout and improves. This loop creates frustration and satisfaction for players.</a:t>
            </a:r>
          </a:p>
        </p:txBody>
      </p:sp>
      <p:sp>
        <p:nvSpPr>
          <p:cNvPr id="20" name="TextBox 19">
            <a:extLst>
              <a:ext uri="{FF2B5EF4-FFF2-40B4-BE49-F238E27FC236}">
                <a16:creationId xmlns:a16="http://schemas.microsoft.com/office/drawing/2014/main" id="{4A93CD7D-6277-0FC9-B50C-CF63C15E277F}"/>
              </a:ext>
            </a:extLst>
          </p:cNvPr>
          <p:cNvSpPr txBox="1"/>
          <p:nvPr/>
        </p:nvSpPr>
        <p:spPr>
          <a:xfrm>
            <a:off x="4692649" y="2010833"/>
            <a:ext cx="3822700" cy="4166130"/>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700"/>
              <a:t>This gameplay loop is extremely simple and effective which allowed for a full game experience for players</a:t>
            </a:r>
            <a:br>
              <a:rPr lang="en-US" sz="1700"/>
            </a:br>
            <a:r>
              <a:rPr lang="en-US" sz="1700"/>
              <a:t>to be made with the limited time given</a:t>
            </a:r>
          </a:p>
        </p:txBody>
      </p:sp>
      <p:sp>
        <p:nvSpPr>
          <p:cNvPr id="21" name="Rectangle 20">
            <a:extLst>
              <a:ext uri="{FF2B5EF4-FFF2-40B4-BE49-F238E27FC236}">
                <a16:creationId xmlns:a16="http://schemas.microsoft.com/office/drawing/2014/main" id="{A8A48788-B4EB-9386-BD9E-F8E9165DB734}"/>
              </a:ext>
            </a:extLst>
          </p:cNvPr>
          <p:cNvSpPr/>
          <p:nvPr/>
        </p:nvSpPr>
        <p:spPr>
          <a:xfrm>
            <a:off x="654889" y="4570262"/>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t>Start Level</a:t>
            </a:r>
          </a:p>
        </p:txBody>
      </p:sp>
      <p:sp>
        <p:nvSpPr>
          <p:cNvPr id="22" name="Rectangle 21">
            <a:extLst>
              <a:ext uri="{FF2B5EF4-FFF2-40B4-BE49-F238E27FC236}">
                <a16:creationId xmlns:a16="http://schemas.microsoft.com/office/drawing/2014/main" id="{5E93F884-A4F7-F00D-B9D5-9C58ABDFD12C}"/>
              </a:ext>
            </a:extLst>
          </p:cNvPr>
          <p:cNvSpPr/>
          <p:nvPr/>
        </p:nvSpPr>
        <p:spPr>
          <a:xfrm>
            <a:off x="2300809" y="4570262"/>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t>Attempt</a:t>
            </a:r>
          </a:p>
        </p:txBody>
      </p:sp>
      <p:sp>
        <p:nvSpPr>
          <p:cNvPr id="23" name="Rectangle 22">
            <a:extLst>
              <a:ext uri="{FF2B5EF4-FFF2-40B4-BE49-F238E27FC236}">
                <a16:creationId xmlns:a16="http://schemas.microsoft.com/office/drawing/2014/main" id="{F9D6D333-5425-73C3-951D-842E38840E78}"/>
              </a:ext>
            </a:extLst>
          </p:cNvPr>
          <p:cNvSpPr/>
          <p:nvPr/>
        </p:nvSpPr>
        <p:spPr>
          <a:xfrm>
            <a:off x="3946728" y="4570262"/>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dirty="0"/>
              <a:t>Fail</a:t>
            </a:r>
          </a:p>
        </p:txBody>
      </p:sp>
      <p:sp>
        <p:nvSpPr>
          <p:cNvPr id="24" name="Rectangle 23">
            <a:extLst>
              <a:ext uri="{FF2B5EF4-FFF2-40B4-BE49-F238E27FC236}">
                <a16:creationId xmlns:a16="http://schemas.microsoft.com/office/drawing/2014/main" id="{9E6A6940-2B5C-5916-D1DC-A3D6A0B203CD}"/>
              </a:ext>
            </a:extLst>
          </p:cNvPr>
          <p:cNvSpPr/>
          <p:nvPr/>
        </p:nvSpPr>
        <p:spPr>
          <a:xfrm>
            <a:off x="5592649" y="4570262"/>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t>Retry</a:t>
            </a:r>
          </a:p>
        </p:txBody>
      </p:sp>
      <p:sp>
        <p:nvSpPr>
          <p:cNvPr id="26" name="Rectangle 25">
            <a:extLst>
              <a:ext uri="{FF2B5EF4-FFF2-40B4-BE49-F238E27FC236}">
                <a16:creationId xmlns:a16="http://schemas.microsoft.com/office/drawing/2014/main" id="{118CD332-349B-802B-0F71-98A639BF6278}"/>
              </a:ext>
            </a:extLst>
          </p:cNvPr>
          <p:cNvSpPr/>
          <p:nvPr/>
        </p:nvSpPr>
        <p:spPr>
          <a:xfrm>
            <a:off x="7238569" y="4570262"/>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t>Complete</a:t>
            </a:r>
          </a:p>
        </p:txBody>
      </p:sp>
      <p:cxnSp>
        <p:nvCxnSpPr>
          <p:cNvPr id="28" name="Straight Arrow Connector 27">
            <a:extLst>
              <a:ext uri="{FF2B5EF4-FFF2-40B4-BE49-F238E27FC236}">
                <a16:creationId xmlns:a16="http://schemas.microsoft.com/office/drawing/2014/main" id="{8498AF0E-1584-1C86-68E6-42081F049284}"/>
              </a:ext>
            </a:extLst>
          </p:cNvPr>
          <p:cNvCxnSpPr>
            <a:stCxn id="21" idx="3"/>
            <a:endCxn id="22" idx="1"/>
          </p:cNvCxnSpPr>
          <p:nvPr/>
        </p:nvCxnSpPr>
        <p:spPr>
          <a:xfrm>
            <a:off x="2026489" y="4890302"/>
            <a:ext cx="274320"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27A3E39-52EF-56F5-2E52-7515014A353E}"/>
              </a:ext>
            </a:extLst>
          </p:cNvPr>
          <p:cNvCxnSpPr>
            <a:stCxn id="22" idx="3"/>
            <a:endCxn id="23" idx="1"/>
          </p:cNvCxnSpPr>
          <p:nvPr/>
        </p:nvCxnSpPr>
        <p:spPr>
          <a:xfrm>
            <a:off x="3672409" y="4890302"/>
            <a:ext cx="274319"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2D9692A-A6B1-E621-05EF-0525BB06B748}"/>
              </a:ext>
            </a:extLst>
          </p:cNvPr>
          <p:cNvCxnSpPr>
            <a:stCxn id="23" idx="3"/>
            <a:endCxn id="24" idx="1"/>
          </p:cNvCxnSpPr>
          <p:nvPr/>
        </p:nvCxnSpPr>
        <p:spPr>
          <a:xfrm>
            <a:off x="5318328" y="4890302"/>
            <a:ext cx="274321"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EB623E3-8192-2011-C882-B344EE22D68D}"/>
              </a:ext>
            </a:extLst>
          </p:cNvPr>
          <p:cNvCxnSpPr>
            <a:stCxn id="24" idx="3"/>
            <a:endCxn id="26" idx="1"/>
          </p:cNvCxnSpPr>
          <p:nvPr/>
        </p:nvCxnSpPr>
        <p:spPr>
          <a:xfrm>
            <a:off x="6964249" y="4890302"/>
            <a:ext cx="274320"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066C8365-8A12-CE43-E680-A1BE524B28ED}"/>
              </a:ext>
            </a:extLst>
          </p:cNvPr>
          <p:cNvCxnSpPr>
            <a:stCxn id="26" idx="3"/>
            <a:endCxn id="21" idx="1"/>
          </p:cNvCxnSpPr>
          <p:nvPr/>
        </p:nvCxnSpPr>
        <p:spPr>
          <a:xfrm flipH="1">
            <a:off x="654889" y="4890302"/>
            <a:ext cx="7955280" cy="12700"/>
          </a:xfrm>
          <a:prstGeom prst="bentConnector5">
            <a:avLst>
              <a:gd name="adj1" fmla="val -2874"/>
              <a:gd name="adj2" fmla="val 4320000"/>
              <a:gd name="adj3" fmla="val 102874"/>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Level Design</a:t>
            </a:r>
          </a:p>
        </p:txBody>
      </p:sp>
      <p:sp>
        <p:nvSpPr>
          <p:cNvPr id="6" name="Rectangle 5">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37110" y="2010758"/>
            <a:ext cx="7410669" cy="3959619"/>
          </a:xfrm>
        </p:spPr>
        <p:txBody>
          <a:bodyPr>
            <a:normAutofit/>
          </a:bodyPr>
          <a:lstStyle/>
          <a:p>
            <a:pPr marL="0" indent="0">
              <a:buNone/>
            </a:pPr>
            <a:r>
              <a:rPr lang="en-US" sz="2100" dirty="0"/>
              <a:t>Levels are designed with increasing difficulty. Early sections teach basic trap mechanics while later sections introduce more complex traps. Spacing and timing was planned to make the scaling hard at first but then extremely hard on later levels. Visual clarity will also be prioritized so players can clearly see obstacles, this will be done by using white boxes for every level and making the stage size the same between each level. Tutorial markers are used at the start to explain controls.</a:t>
            </a:r>
          </a:p>
        </p:txBody>
      </p:sp>
      <p:sp>
        <p:nvSpPr>
          <p:cNvPr id="44" name="Rectangle 43">
            <a:extLst>
              <a:ext uri="{FF2B5EF4-FFF2-40B4-BE49-F238E27FC236}">
                <a16:creationId xmlns:a16="http://schemas.microsoft.com/office/drawing/2014/main" id="{EB6693B7-C300-3543-4CF5-543828BBBAF8}"/>
              </a:ext>
            </a:extLst>
          </p:cNvPr>
          <p:cNvSpPr/>
          <p:nvPr/>
        </p:nvSpPr>
        <p:spPr>
          <a:xfrm>
            <a:off x="3111852" y="4457699"/>
            <a:ext cx="3545633" cy="22253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737F3162-A83B-F7F6-5C57-2987C6B2C51C}"/>
              </a:ext>
            </a:extLst>
          </p:cNvPr>
          <p:cNvSpPr/>
          <p:nvPr/>
        </p:nvSpPr>
        <p:spPr>
          <a:xfrm>
            <a:off x="3331121" y="4682251"/>
            <a:ext cx="3125755" cy="1753538"/>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6" name="Rectangle 45">
            <a:extLst>
              <a:ext uri="{FF2B5EF4-FFF2-40B4-BE49-F238E27FC236}">
                <a16:creationId xmlns:a16="http://schemas.microsoft.com/office/drawing/2014/main" id="{A97C6C5D-5461-9316-BD8C-1D41310EE771}"/>
              </a:ext>
            </a:extLst>
          </p:cNvPr>
          <p:cNvSpPr/>
          <p:nvPr/>
        </p:nvSpPr>
        <p:spPr>
          <a:xfrm>
            <a:off x="3492852" y="6185418"/>
            <a:ext cx="272143" cy="25037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9485C001-4E0D-DAD6-7203-E62A46E65B80}"/>
              </a:ext>
            </a:extLst>
          </p:cNvPr>
          <p:cNvSpPr/>
          <p:nvPr/>
        </p:nvSpPr>
        <p:spPr>
          <a:xfrm>
            <a:off x="4488541" y="6319155"/>
            <a:ext cx="943947" cy="116633"/>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40A8FB96-3A0C-A607-BD74-E3EF1FDF3F2D}"/>
              </a:ext>
            </a:extLst>
          </p:cNvPr>
          <p:cNvSpPr/>
          <p:nvPr/>
        </p:nvSpPr>
        <p:spPr>
          <a:xfrm>
            <a:off x="6032334" y="5698671"/>
            <a:ext cx="384111" cy="72856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49" name="Straight Arrow Connector 48">
            <a:extLst>
              <a:ext uri="{FF2B5EF4-FFF2-40B4-BE49-F238E27FC236}">
                <a16:creationId xmlns:a16="http://schemas.microsoft.com/office/drawing/2014/main" id="{BB846785-AA5F-3D93-2E7E-D0DFB9291F49}"/>
              </a:ext>
            </a:extLst>
          </p:cNvPr>
          <p:cNvCxnSpPr>
            <a:cxnSpLocks/>
          </p:cNvCxnSpPr>
          <p:nvPr/>
        </p:nvCxnSpPr>
        <p:spPr>
          <a:xfrm flipH="1">
            <a:off x="6260934" y="5498062"/>
            <a:ext cx="625151" cy="452535"/>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6FEB7BB-6477-DDD0-19C7-6AEC0B2CA035}"/>
              </a:ext>
            </a:extLst>
          </p:cNvPr>
          <p:cNvSpPr txBox="1"/>
          <p:nvPr/>
        </p:nvSpPr>
        <p:spPr>
          <a:xfrm>
            <a:off x="6905821" y="5270829"/>
            <a:ext cx="526106" cy="369332"/>
          </a:xfrm>
          <a:prstGeom prst="rect">
            <a:avLst/>
          </a:prstGeom>
          <a:noFill/>
        </p:spPr>
        <p:txBody>
          <a:bodyPr wrap="square" rtlCol="0">
            <a:spAutoFit/>
          </a:bodyPr>
          <a:lstStyle/>
          <a:p>
            <a:r>
              <a:rPr lang="en-US" dirty="0"/>
              <a:t>Exit</a:t>
            </a:r>
            <a:endParaRPr lang="en-GB" dirty="0"/>
          </a:p>
        </p:txBody>
      </p:sp>
      <p:cxnSp>
        <p:nvCxnSpPr>
          <p:cNvPr id="51" name="Straight Arrow Connector 50">
            <a:extLst>
              <a:ext uri="{FF2B5EF4-FFF2-40B4-BE49-F238E27FC236}">
                <a16:creationId xmlns:a16="http://schemas.microsoft.com/office/drawing/2014/main" id="{0D6BA01D-F45F-2554-4CF3-231516E6C90F}"/>
              </a:ext>
            </a:extLst>
          </p:cNvPr>
          <p:cNvCxnSpPr>
            <a:cxnSpLocks/>
          </p:cNvCxnSpPr>
          <p:nvPr/>
        </p:nvCxnSpPr>
        <p:spPr>
          <a:xfrm flipH="1">
            <a:off x="5033958" y="5698671"/>
            <a:ext cx="97971" cy="67880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7DF517E0-994A-F1AE-A02F-E04F318285E5}"/>
              </a:ext>
            </a:extLst>
          </p:cNvPr>
          <p:cNvSpPr txBox="1"/>
          <p:nvPr/>
        </p:nvSpPr>
        <p:spPr>
          <a:xfrm>
            <a:off x="4893998" y="5313396"/>
            <a:ext cx="590418" cy="369332"/>
          </a:xfrm>
          <a:prstGeom prst="rect">
            <a:avLst/>
          </a:prstGeom>
          <a:noFill/>
        </p:spPr>
        <p:txBody>
          <a:bodyPr wrap="square" rtlCol="0">
            <a:spAutoFit/>
          </a:bodyPr>
          <a:lstStyle/>
          <a:p>
            <a:r>
              <a:rPr lang="en-US" dirty="0"/>
              <a:t>Trap</a:t>
            </a:r>
            <a:endParaRPr lang="en-GB" dirty="0"/>
          </a:p>
        </p:txBody>
      </p:sp>
      <p:cxnSp>
        <p:nvCxnSpPr>
          <p:cNvPr id="53" name="Straight Arrow Connector 52">
            <a:extLst>
              <a:ext uri="{FF2B5EF4-FFF2-40B4-BE49-F238E27FC236}">
                <a16:creationId xmlns:a16="http://schemas.microsoft.com/office/drawing/2014/main" id="{7A566826-2EBC-8B59-6C41-16ED47C813AE}"/>
              </a:ext>
            </a:extLst>
          </p:cNvPr>
          <p:cNvCxnSpPr>
            <a:endCxn id="46" idx="0"/>
          </p:cNvCxnSpPr>
          <p:nvPr/>
        </p:nvCxnSpPr>
        <p:spPr>
          <a:xfrm flipH="1">
            <a:off x="3628924" y="5559020"/>
            <a:ext cx="238708" cy="626398"/>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A7E1759E-988D-1203-2474-F324FA43FE89}"/>
              </a:ext>
            </a:extLst>
          </p:cNvPr>
          <p:cNvSpPr txBox="1"/>
          <p:nvPr/>
        </p:nvSpPr>
        <p:spPr>
          <a:xfrm>
            <a:off x="3541818" y="5249169"/>
            <a:ext cx="759439" cy="369332"/>
          </a:xfrm>
          <a:prstGeom prst="rect">
            <a:avLst/>
          </a:prstGeom>
          <a:noFill/>
        </p:spPr>
        <p:txBody>
          <a:bodyPr wrap="square" rtlCol="0">
            <a:spAutoFit/>
          </a:bodyPr>
          <a:lstStyle/>
          <a:p>
            <a:r>
              <a:rPr lang="en-US" dirty="0"/>
              <a:t>Player</a:t>
            </a:r>
            <a:endParaRPr lang="en-GB" dirty="0"/>
          </a:p>
        </p:txBody>
      </p:sp>
      <p:cxnSp>
        <p:nvCxnSpPr>
          <p:cNvPr id="55" name="Straight Arrow Connector 54">
            <a:extLst>
              <a:ext uri="{FF2B5EF4-FFF2-40B4-BE49-F238E27FC236}">
                <a16:creationId xmlns:a16="http://schemas.microsoft.com/office/drawing/2014/main" id="{74DD9641-78C4-3652-5F6C-18816E5923A0}"/>
              </a:ext>
            </a:extLst>
          </p:cNvPr>
          <p:cNvCxnSpPr>
            <a:cxnSpLocks/>
          </p:cNvCxnSpPr>
          <p:nvPr/>
        </p:nvCxnSpPr>
        <p:spPr>
          <a:xfrm flipH="1">
            <a:off x="6573509" y="4930965"/>
            <a:ext cx="1030591" cy="91236"/>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7304EF17-646A-56B2-7C86-A56007D87CA2}"/>
              </a:ext>
            </a:extLst>
          </p:cNvPr>
          <p:cNvSpPr txBox="1"/>
          <p:nvPr/>
        </p:nvSpPr>
        <p:spPr>
          <a:xfrm>
            <a:off x="6697342" y="4608848"/>
            <a:ext cx="2178225" cy="369332"/>
          </a:xfrm>
          <a:prstGeom prst="rect">
            <a:avLst/>
          </a:prstGeom>
          <a:noFill/>
        </p:spPr>
        <p:txBody>
          <a:bodyPr wrap="square" rtlCol="0">
            <a:spAutoFit/>
          </a:bodyPr>
          <a:lstStyle/>
          <a:p>
            <a:r>
              <a:rPr lang="en-US" dirty="0"/>
              <a:t>Universal level layout</a:t>
            </a:r>
            <a:endParaRPr lang="en-GB" dirty="0"/>
          </a:p>
        </p:txBody>
      </p:sp>
      <p:sp>
        <p:nvSpPr>
          <p:cNvPr id="57" name="Rectangle 56">
            <a:extLst>
              <a:ext uri="{FF2B5EF4-FFF2-40B4-BE49-F238E27FC236}">
                <a16:creationId xmlns:a16="http://schemas.microsoft.com/office/drawing/2014/main" id="{C689BC90-05F9-4F51-7658-EFA486B6A469}"/>
              </a:ext>
            </a:extLst>
          </p:cNvPr>
          <p:cNvSpPr/>
          <p:nvPr/>
        </p:nvSpPr>
        <p:spPr>
          <a:xfrm>
            <a:off x="4192296" y="6038071"/>
            <a:ext cx="575741"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58" name="Straight Arrow Connector 57">
            <a:extLst>
              <a:ext uri="{FF2B5EF4-FFF2-40B4-BE49-F238E27FC236}">
                <a16:creationId xmlns:a16="http://schemas.microsoft.com/office/drawing/2014/main" id="{CD9BCFE8-503B-4326-7DAF-948F7F272BBC}"/>
              </a:ext>
            </a:extLst>
          </p:cNvPr>
          <p:cNvCxnSpPr>
            <a:cxnSpLocks/>
            <a:endCxn id="57" idx="0"/>
          </p:cNvCxnSpPr>
          <p:nvPr/>
        </p:nvCxnSpPr>
        <p:spPr>
          <a:xfrm>
            <a:off x="4058909" y="4947556"/>
            <a:ext cx="421258" cy="1090515"/>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C5DB2100-B0A7-859E-A138-CCB016D1B00E}"/>
              </a:ext>
            </a:extLst>
          </p:cNvPr>
          <p:cNvSpPr txBox="1"/>
          <p:nvPr/>
        </p:nvSpPr>
        <p:spPr>
          <a:xfrm>
            <a:off x="3486562" y="4613065"/>
            <a:ext cx="993605" cy="369332"/>
          </a:xfrm>
          <a:prstGeom prst="rect">
            <a:avLst/>
          </a:prstGeom>
          <a:noFill/>
        </p:spPr>
        <p:txBody>
          <a:bodyPr wrap="square" rtlCol="0">
            <a:spAutoFit/>
          </a:bodyPr>
          <a:lstStyle/>
          <a:p>
            <a:r>
              <a:rPr lang="en-US" dirty="0"/>
              <a:t>Platform</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Systems Development</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pPr marL="0" indent="0">
              <a:buNone/>
            </a:pPr>
            <a:r>
              <a:rPr lang="en-US" sz="2100"/>
              <a:t>The project will include several needed systems such as pause menu, settings menu, audio system and post processing effects. I also want to add a music visualizer which reacts to audio using spectrum data, affecting bloom and lens distortion to make the music synergize with the game giving a cool experience. UI systems will likely require an EventSystem to function correctly. Another system that will also be needed is a death counter and maybe a taunting system that further rage baits players.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Annotated Screenshot</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pPr marL="0" indent="0">
              <a:buNone/>
            </a:pPr>
            <a:r>
              <a:rPr lang="en-US" sz="2100" dirty="0"/>
              <a:t>Example gameplay screens showing player, obstacles and UI. Annotations highlight core systems.</a:t>
            </a:r>
          </a:p>
        </p:txBody>
      </p:sp>
      <p:pic>
        <p:nvPicPr>
          <p:cNvPr id="88" name="Picture 87">
            <a:extLst>
              <a:ext uri="{FF2B5EF4-FFF2-40B4-BE49-F238E27FC236}">
                <a16:creationId xmlns:a16="http://schemas.microsoft.com/office/drawing/2014/main" id="{35F499BD-3606-CB64-EE53-2A470321A0C1}"/>
              </a:ext>
            </a:extLst>
          </p:cNvPr>
          <p:cNvPicPr>
            <a:picLocks noChangeAspect="1"/>
          </p:cNvPicPr>
          <p:nvPr/>
        </p:nvPicPr>
        <p:blipFill>
          <a:blip r:embed="rId2"/>
          <a:srcRect t="4356"/>
          <a:stretch>
            <a:fillRect/>
          </a:stretch>
        </p:blipFill>
        <p:spPr>
          <a:xfrm>
            <a:off x="1328048" y="3021952"/>
            <a:ext cx="2971367" cy="1597868"/>
          </a:xfrm>
          <a:prstGeom prst="rect">
            <a:avLst/>
          </a:prstGeom>
        </p:spPr>
      </p:pic>
      <p:cxnSp>
        <p:nvCxnSpPr>
          <p:cNvPr id="89" name="Straight Arrow Connector 88">
            <a:extLst>
              <a:ext uri="{FF2B5EF4-FFF2-40B4-BE49-F238E27FC236}">
                <a16:creationId xmlns:a16="http://schemas.microsoft.com/office/drawing/2014/main" id="{C0BF7129-63E6-6DFF-F7DB-489BAB163761}"/>
              </a:ext>
            </a:extLst>
          </p:cNvPr>
          <p:cNvCxnSpPr>
            <a:cxnSpLocks/>
          </p:cNvCxnSpPr>
          <p:nvPr/>
        </p:nvCxnSpPr>
        <p:spPr>
          <a:xfrm flipH="1">
            <a:off x="4224875" y="3427777"/>
            <a:ext cx="1497563" cy="2102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AED6F7CD-8E3B-8A1B-BC9C-D12B6B00EB89}"/>
              </a:ext>
            </a:extLst>
          </p:cNvPr>
          <p:cNvCxnSpPr>
            <a:cxnSpLocks/>
          </p:cNvCxnSpPr>
          <p:nvPr/>
        </p:nvCxnSpPr>
        <p:spPr>
          <a:xfrm>
            <a:off x="719567" y="3679209"/>
            <a:ext cx="1945433" cy="289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DE15FD0A-C897-9EBD-BA35-A817812F2EF1}"/>
              </a:ext>
            </a:extLst>
          </p:cNvPr>
          <p:cNvCxnSpPr>
            <a:cxnSpLocks/>
          </p:cNvCxnSpPr>
          <p:nvPr/>
        </p:nvCxnSpPr>
        <p:spPr>
          <a:xfrm flipH="1">
            <a:off x="3248163" y="4220529"/>
            <a:ext cx="1763486" cy="3372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98E5F71B-A504-7379-3E70-E1E3A0F9608E}"/>
              </a:ext>
            </a:extLst>
          </p:cNvPr>
          <p:cNvSpPr txBox="1"/>
          <p:nvPr/>
        </p:nvSpPr>
        <p:spPr>
          <a:xfrm>
            <a:off x="5402252" y="3108236"/>
            <a:ext cx="1046505" cy="369332"/>
          </a:xfrm>
          <a:prstGeom prst="rect">
            <a:avLst/>
          </a:prstGeom>
          <a:noFill/>
        </p:spPr>
        <p:txBody>
          <a:bodyPr wrap="square" rtlCol="0">
            <a:spAutoFit/>
          </a:bodyPr>
          <a:lstStyle/>
          <a:p>
            <a:r>
              <a:rPr lang="en-US" dirty="0"/>
              <a:t>Platform </a:t>
            </a:r>
            <a:endParaRPr lang="en-GB" dirty="0"/>
          </a:p>
        </p:txBody>
      </p:sp>
      <p:sp>
        <p:nvSpPr>
          <p:cNvPr id="93" name="TextBox 92">
            <a:extLst>
              <a:ext uri="{FF2B5EF4-FFF2-40B4-BE49-F238E27FC236}">
                <a16:creationId xmlns:a16="http://schemas.microsoft.com/office/drawing/2014/main" id="{528CDA7E-3668-9853-6D36-FF6EACADF5CC}"/>
              </a:ext>
            </a:extLst>
          </p:cNvPr>
          <p:cNvSpPr txBox="1"/>
          <p:nvPr/>
        </p:nvSpPr>
        <p:spPr>
          <a:xfrm>
            <a:off x="393877" y="3321698"/>
            <a:ext cx="812338" cy="369332"/>
          </a:xfrm>
          <a:prstGeom prst="rect">
            <a:avLst/>
          </a:prstGeom>
          <a:noFill/>
        </p:spPr>
        <p:txBody>
          <a:bodyPr wrap="square" rtlCol="0">
            <a:spAutoFit/>
          </a:bodyPr>
          <a:lstStyle/>
          <a:p>
            <a:r>
              <a:rPr lang="en-US" dirty="0"/>
              <a:t>Player </a:t>
            </a:r>
            <a:endParaRPr lang="en-GB" dirty="0"/>
          </a:p>
        </p:txBody>
      </p:sp>
      <p:sp>
        <p:nvSpPr>
          <p:cNvPr id="94" name="TextBox 93">
            <a:extLst>
              <a:ext uri="{FF2B5EF4-FFF2-40B4-BE49-F238E27FC236}">
                <a16:creationId xmlns:a16="http://schemas.microsoft.com/office/drawing/2014/main" id="{8C1B7D22-23AA-547D-CA7F-2F501D646807}"/>
              </a:ext>
            </a:extLst>
          </p:cNvPr>
          <p:cNvSpPr txBox="1"/>
          <p:nvPr/>
        </p:nvSpPr>
        <p:spPr>
          <a:xfrm>
            <a:off x="4421248" y="3899607"/>
            <a:ext cx="1301190" cy="369332"/>
          </a:xfrm>
          <a:prstGeom prst="rect">
            <a:avLst/>
          </a:prstGeom>
          <a:noFill/>
        </p:spPr>
        <p:txBody>
          <a:bodyPr wrap="square" rtlCol="0">
            <a:spAutoFit/>
          </a:bodyPr>
          <a:lstStyle/>
          <a:p>
            <a:r>
              <a:rPr lang="en-US" dirty="0"/>
              <a:t>Death zone </a:t>
            </a:r>
            <a:endParaRPr lang="en-GB" dirty="0"/>
          </a:p>
        </p:txBody>
      </p:sp>
      <p:sp>
        <p:nvSpPr>
          <p:cNvPr id="95" name="Rectangle 94">
            <a:extLst>
              <a:ext uri="{FF2B5EF4-FFF2-40B4-BE49-F238E27FC236}">
                <a16:creationId xmlns:a16="http://schemas.microsoft.com/office/drawing/2014/main" id="{C35737FD-DC43-3B7C-FA6C-414EF8EEBADD}"/>
              </a:ext>
            </a:extLst>
          </p:cNvPr>
          <p:cNvSpPr/>
          <p:nvPr/>
        </p:nvSpPr>
        <p:spPr>
          <a:xfrm>
            <a:off x="3856644" y="3114645"/>
            <a:ext cx="265073" cy="444303"/>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96" name="Straight Arrow Connector 95">
            <a:extLst>
              <a:ext uri="{FF2B5EF4-FFF2-40B4-BE49-F238E27FC236}">
                <a16:creationId xmlns:a16="http://schemas.microsoft.com/office/drawing/2014/main" id="{E4A7C79D-22CB-337C-FE92-9FA85D4E4A3F}"/>
              </a:ext>
            </a:extLst>
          </p:cNvPr>
          <p:cNvCxnSpPr>
            <a:cxnSpLocks/>
          </p:cNvCxnSpPr>
          <p:nvPr/>
        </p:nvCxnSpPr>
        <p:spPr>
          <a:xfrm flipH="1">
            <a:off x="3989180" y="3179772"/>
            <a:ext cx="605321" cy="1356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BE661D5A-73F0-6304-81C0-A24000521EED}"/>
              </a:ext>
            </a:extLst>
          </p:cNvPr>
          <p:cNvSpPr txBox="1"/>
          <p:nvPr/>
        </p:nvSpPr>
        <p:spPr>
          <a:xfrm>
            <a:off x="4571475" y="2956644"/>
            <a:ext cx="1046505" cy="369332"/>
          </a:xfrm>
          <a:prstGeom prst="rect">
            <a:avLst/>
          </a:prstGeom>
          <a:noFill/>
        </p:spPr>
        <p:txBody>
          <a:bodyPr wrap="square" rtlCol="0">
            <a:spAutoFit/>
          </a:bodyPr>
          <a:lstStyle/>
          <a:p>
            <a:r>
              <a:rPr lang="en-US" dirty="0"/>
              <a:t>Exit </a:t>
            </a:r>
            <a:endParaRPr lang="en-GB" dirty="0"/>
          </a:p>
        </p:txBody>
      </p:sp>
      <p:pic>
        <p:nvPicPr>
          <p:cNvPr id="98" name="Picture 97">
            <a:extLst>
              <a:ext uri="{FF2B5EF4-FFF2-40B4-BE49-F238E27FC236}">
                <a16:creationId xmlns:a16="http://schemas.microsoft.com/office/drawing/2014/main" id="{EFD5A6AD-A84B-B8F8-E3B1-6672817C93D1}"/>
              </a:ext>
            </a:extLst>
          </p:cNvPr>
          <p:cNvPicPr>
            <a:picLocks noChangeAspect="1"/>
          </p:cNvPicPr>
          <p:nvPr/>
        </p:nvPicPr>
        <p:blipFill>
          <a:blip r:embed="rId3"/>
          <a:stretch>
            <a:fillRect/>
          </a:stretch>
        </p:blipFill>
        <p:spPr>
          <a:xfrm>
            <a:off x="5245567" y="4910093"/>
            <a:ext cx="3479666" cy="1943985"/>
          </a:xfrm>
          <a:prstGeom prst="rect">
            <a:avLst/>
          </a:prstGeom>
        </p:spPr>
      </p:pic>
      <p:cxnSp>
        <p:nvCxnSpPr>
          <p:cNvPr id="99" name="Straight Arrow Connector 98">
            <a:extLst>
              <a:ext uri="{FF2B5EF4-FFF2-40B4-BE49-F238E27FC236}">
                <a16:creationId xmlns:a16="http://schemas.microsoft.com/office/drawing/2014/main" id="{7CD9349F-972F-4576-A5E8-BAEDFC3CFA95}"/>
              </a:ext>
            </a:extLst>
          </p:cNvPr>
          <p:cNvCxnSpPr>
            <a:cxnSpLocks/>
          </p:cNvCxnSpPr>
          <p:nvPr/>
        </p:nvCxnSpPr>
        <p:spPr>
          <a:xfrm flipH="1">
            <a:off x="6821895" y="4297934"/>
            <a:ext cx="387113" cy="9667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5A44788E-F0EB-2D4D-AC7B-F0C45AE95321}"/>
              </a:ext>
            </a:extLst>
          </p:cNvPr>
          <p:cNvSpPr txBox="1"/>
          <p:nvPr/>
        </p:nvSpPr>
        <p:spPr>
          <a:xfrm>
            <a:off x="3396171" y="5097571"/>
            <a:ext cx="1675823" cy="646331"/>
          </a:xfrm>
          <a:prstGeom prst="rect">
            <a:avLst/>
          </a:prstGeom>
          <a:noFill/>
        </p:spPr>
        <p:txBody>
          <a:bodyPr wrap="square" rtlCol="0">
            <a:spAutoFit/>
          </a:bodyPr>
          <a:lstStyle/>
          <a:p>
            <a:pPr algn="ctr"/>
            <a:r>
              <a:rPr lang="en-US" dirty="0"/>
              <a:t>Basic Main</a:t>
            </a:r>
          </a:p>
          <a:p>
            <a:r>
              <a:rPr lang="en-US" dirty="0"/>
              <a:t> menu features </a:t>
            </a:r>
            <a:endParaRPr lang="en-GB" dirty="0"/>
          </a:p>
        </p:txBody>
      </p:sp>
      <p:cxnSp>
        <p:nvCxnSpPr>
          <p:cNvPr id="101" name="Straight Arrow Connector 100">
            <a:extLst>
              <a:ext uri="{FF2B5EF4-FFF2-40B4-BE49-F238E27FC236}">
                <a16:creationId xmlns:a16="http://schemas.microsoft.com/office/drawing/2014/main" id="{D3B011FE-283B-6E10-93DF-E6C1D9F9F1D7}"/>
              </a:ext>
            </a:extLst>
          </p:cNvPr>
          <p:cNvCxnSpPr>
            <a:cxnSpLocks/>
          </p:cNvCxnSpPr>
          <p:nvPr/>
        </p:nvCxnSpPr>
        <p:spPr>
          <a:xfrm>
            <a:off x="4694408" y="5405517"/>
            <a:ext cx="1922106" cy="350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8A48BD43-C37D-36C3-BF23-8644256F9F79}"/>
              </a:ext>
            </a:extLst>
          </p:cNvPr>
          <p:cNvCxnSpPr>
            <a:cxnSpLocks/>
          </p:cNvCxnSpPr>
          <p:nvPr/>
        </p:nvCxnSpPr>
        <p:spPr>
          <a:xfrm>
            <a:off x="4694408" y="5405517"/>
            <a:ext cx="1866122" cy="6291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099642C9-74D0-A196-5DFD-F4B13B42419F}"/>
              </a:ext>
            </a:extLst>
          </p:cNvPr>
          <p:cNvCxnSpPr>
            <a:cxnSpLocks/>
          </p:cNvCxnSpPr>
          <p:nvPr/>
        </p:nvCxnSpPr>
        <p:spPr>
          <a:xfrm>
            <a:off x="4727065" y="5405517"/>
            <a:ext cx="1833465" cy="962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42CDB65D-1535-203C-792F-8AC17F2EC542}"/>
              </a:ext>
            </a:extLst>
          </p:cNvPr>
          <p:cNvSpPr txBox="1"/>
          <p:nvPr/>
        </p:nvSpPr>
        <p:spPr>
          <a:xfrm>
            <a:off x="6931764" y="3967641"/>
            <a:ext cx="1046505" cy="369332"/>
          </a:xfrm>
          <a:prstGeom prst="rect">
            <a:avLst/>
          </a:prstGeom>
          <a:noFill/>
        </p:spPr>
        <p:txBody>
          <a:bodyPr wrap="square" rtlCol="0">
            <a:spAutoFit/>
          </a:bodyPr>
          <a:lstStyle/>
          <a:p>
            <a:r>
              <a:rPr lang="en-US" dirty="0"/>
              <a:t>Title </a:t>
            </a:r>
            <a:endParaRPr lang="en-GB" dirty="0"/>
          </a:p>
        </p:txBody>
      </p:sp>
      <p:cxnSp>
        <p:nvCxnSpPr>
          <p:cNvPr id="105" name="Straight Arrow Connector 104">
            <a:extLst>
              <a:ext uri="{FF2B5EF4-FFF2-40B4-BE49-F238E27FC236}">
                <a16:creationId xmlns:a16="http://schemas.microsoft.com/office/drawing/2014/main" id="{0829846D-6239-C279-DC75-3AF0B69550C8}"/>
              </a:ext>
            </a:extLst>
          </p:cNvPr>
          <p:cNvCxnSpPr>
            <a:cxnSpLocks/>
          </p:cNvCxnSpPr>
          <p:nvPr/>
        </p:nvCxnSpPr>
        <p:spPr>
          <a:xfrm flipH="1">
            <a:off x="7907356" y="4557762"/>
            <a:ext cx="387113" cy="9667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 name="TextBox 105">
            <a:extLst>
              <a:ext uri="{FF2B5EF4-FFF2-40B4-BE49-F238E27FC236}">
                <a16:creationId xmlns:a16="http://schemas.microsoft.com/office/drawing/2014/main" id="{55A0BEBD-4AE6-FEEB-C401-0F65F87D9EE0}"/>
              </a:ext>
            </a:extLst>
          </p:cNvPr>
          <p:cNvSpPr txBox="1"/>
          <p:nvPr/>
        </p:nvSpPr>
        <p:spPr>
          <a:xfrm>
            <a:off x="7986599" y="3924691"/>
            <a:ext cx="1046505" cy="646331"/>
          </a:xfrm>
          <a:prstGeom prst="rect">
            <a:avLst/>
          </a:prstGeom>
          <a:noFill/>
        </p:spPr>
        <p:txBody>
          <a:bodyPr wrap="square" rtlCol="0">
            <a:spAutoFit/>
          </a:bodyPr>
          <a:lstStyle/>
          <a:p>
            <a:r>
              <a:rPr lang="en-US" dirty="0"/>
              <a:t>Cursor design </a:t>
            </a:r>
            <a:endParaRPr lang="en-GB" dirty="0"/>
          </a:p>
        </p:txBody>
      </p:sp>
      <p:pic>
        <p:nvPicPr>
          <p:cNvPr id="107" name="Picture 106">
            <a:extLst>
              <a:ext uri="{FF2B5EF4-FFF2-40B4-BE49-F238E27FC236}">
                <a16:creationId xmlns:a16="http://schemas.microsoft.com/office/drawing/2014/main" id="{1D368602-41C2-ED49-82D0-B85E33D643F4}"/>
              </a:ext>
            </a:extLst>
          </p:cNvPr>
          <p:cNvPicPr>
            <a:picLocks noChangeAspect="1"/>
          </p:cNvPicPr>
          <p:nvPr/>
        </p:nvPicPr>
        <p:blipFill>
          <a:blip r:embed="rId4"/>
          <a:stretch>
            <a:fillRect/>
          </a:stretch>
        </p:blipFill>
        <p:spPr>
          <a:xfrm>
            <a:off x="665072" y="5130870"/>
            <a:ext cx="2827176" cy="1578569"/>
          </a:xfrm>
          <a:prstGeom prst="rect">
            <a:avLst/>
          </a:prstGeom>
        </p:spPr>
      </p:pic>
      <p:cxnSp>
        <p:nvCxnSpPr>
          <p:cNvPr id="108" name="Straight Arrow Connector 107">
            <a:extLst>
              <a:ext uri="{FF2B5EF4-FFF2-40B4-BE49-F238E27FC236}">
                <a16:creationId xmlns:a16="http://schemas.microsoft.com/office/drawing/2014/main" id="{BA01D141-2BFD-672E-D70F-4C3D83B1055C}"/>
              </a:ext>
            </a:extLst>
          </p:cNvPr>
          <p:cNvCxnSpPr>
            <a:cxnSpLocks/>
          </p:cNvCxnSpPr>
          <p:nvPr/>
        </p:nvCxnSpPr>
        <p:spPr>
          <a:xfrm flipH="1" flipV="1">
            <a:off x="2377877" y="6154113"/>
            <a:ext cx="1471339" cy="270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720E4349-95C0-F41C-0C58-D2600D0FAAB6}"/>
              </a:ext>
            </a:extLst>
          </p:cNvPr>
          <p:cNvSpPr txBox="1"/>
          <p:nvPr/>
        </p:nvSpPr>
        <p:spPr>
          <a:xfrm>
            <a:off x="3896796" y="6101801"/>
            <a:ext cx="1301190" cy="646331"/>
          </a:xfrm>
          <a:prstGeom prst="rect">
            <a:avLst/>
          </a:prstGeom>
          <a:noFill/>
        </p:spPr>
        <p:txBody>
          <a:bodyPr wrap="square" rtlCol="0">
            <a:spAutoFit/>
          </a:bodyPr>
          <a:lstStyle/>
          <a:p>
            <a:r>
              <a:rPr lang="en-US" dirty="0"/>
              <a:t>Volume control</a:t>
            </a:r>
            <a:endParaRPr lang="en-GB" dirty="0"/>
          </a:p>
        </p:txBody>
      </p:sp>
      <p:cxnSp>
        <p:nvCxnSpPr>
          <p:cNvPr id="110" name="Straight Arrow Connector 109">
            <a:extLst>
              <a:ext uri="{FF2B5EF4-FFF2-40B4-BE49-F238E27FC236}">
                <a16:creationId xmlns:a16="http://schemas.microsoft.com/office/drawing/2014/main" id="{198CADC8-4B41-826A-4126-058E7CB9FB07}"/>
              </a:ext>
            </a:extLst>
          </p:cNvPr>
          <p:cNvCxnSpPr>
            <a:cxnSpLocks/>
          </p:cNvCxnSpPr>
          <p:nvPr/>
        </p:nvCxnSpPr>
        <p:spPr>
          <a:xfrm>
            <a:off x="897284" y="4910093"/>
            <a:ext cx="1003708" cy="536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80A0C6A4-5569-31D1-3144-F04210D5BCBA}"/>
              </a:ext>
            </a:extLst>
          </p:cNvPr>
          <p:cNvSpPr txBox="1"/>
          <p:nvPr/>
        </p:nvSpPr>
        <p:spPr>
          <a:xfrm>
            <a:off x="-38881" y="4234596"/>
            <a:ext cx="1675823" cy="646331"/>
          </a:xfrm>
          <a:prstGeom prst="rect">
            <a:avLst/>
          </a:prstGeom>
          <a:noFill/>
        </p:spPr>
        <p:txBody>
          <a:bodyPr wrap="square" rtlCol="0">
            <a:spAutoFit/>
          </a:bodyPr>
          <a:lstStyle/>
          <a:p>
            <a:pPr algn="ctr"/>
            <a:r>
              <a:rPr lang="en-US" dirty="0"/>
              <a:t>Graphical</a:t>
            </a:r>
          </a:p>
          <a:p>
            <a:pPr algn="ctr"/>
            <a:r>
              <a:rPr lang="en-US" dirty="0"/>
              <a:t>settings</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keyboard">
            <a:extLst>
              <a:ext uri="{FF2B5EF4-FFF2-40B4-BE49-F238E27FC236}">
                <a16:creationId xmlns:a16="http://schemas.microsoft.com/office/drawing/2014/main" id="{777E1F44-7085-7FE8-D113-16A145B0145E}"/>
              </a:ext>
            </a:extLst>
          </p:cNvPr>
          <p:cNvPicPr>
            <a:picLocks noChangeAspect="1"/>
          </p:cNvPicPr>
          <p:nvPr/>
        </p:nvPicPr>
        <p:blipFill>
          <a:blip r:embed="rId2"/>
          <a:srcRect l="20819" r="40871" b="1"/>
          <a:stretch>
            <a:fillRect/>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86487" y="2743200"/>
            <a:ext cx="3935505" cy="3496878"/>
          </a:xfrm>
        </p:spPr>
        <p:txBody>
          <a:bodyPr anchor="ctr">
            <a:normAutofit/>
          </a:bodyPr>
          <a:lstStyle/>
          <a:p>
            <a:pPr marL="0" indent="0">
              <a:lnSpc>
                <a:spcPct val="90000"/>
              </a:lnSpc>
              <a:buNone/>
            </a:pPr>
            <a:r>
              <a:rPr lang="en-US" sz="1600" dirty="0"/>
              <a:t>Several issues occurred during development. UI did not work due to missing </a:t>
            </a:r>
            <a:r>
              <a:rPr lang="en-US" sz="1600" dirty="0" err="1"/>
              <a:t>EventSystems</a:t>
            </a:r>
            <a:r>
              <a:rPr lang="en-US" sz="1600" dirty="0"/>
              <a:t>. Cursor blocked buttons as I used a cursor image to have post processing affect the cursor so clicks did not register due to </a:t>
            </a:r>
            <a:r>
              <a:rPr lang="en-US" sz="1600" dirty="0" err="1"/>
              <a:t>raycast</a:t>
            </a:r>
            <a:r>
              <a:rPr lang="en-US" sz="1600" dirty="0"/>
              <a:t> settings. Settings did not save between scenes, which was fixed using </a:t>
            </a:r>
            <a:r>
              <a:rPr lang="en-US" sz="1600" dirty="0" err="1"/>
              <a:t>PlayerPrefs</a:t>
            </a:r>
            <a:r>
              <a:rPr lang="en-US" sz="1600" dirty="0"/>
              <a:t> or a persistent manager. I also had issues with level design as I was stuck on what to make that could be challenging for players, so I went back on geometry dash and used a few levels as inspiration form the new platformer mode. Each problem was tested and solved step by step.</a:t>
            </a:r>
          </a:p>
        </p:txBody>
      </p:sp>
      <p:sp>
        <p:nvSpPr>
          <p:cNvPr id="4" name="Rectangle 3">
            <a:extLst>
              <a:ext uri="{FF2B5EF4-FFF2-40B4-BE49-F238E27FC236}">
                <a16:creationId xmlns:a16="http://schemas.microsoft.com/office/drawing/2014/main" id="{2973AB57-2D8A-1364-1589-E93B2C47A564}"/>
              </a:ext>
            </a:extLst>
          </p:cNvPr>
          <p:cNvSpPr/>
          <p:nvPr/>
        </p:nvSpPr>
        <p:spPr>
          <a:xfrm>
            <a:off x="4057647" y="-2"/>
            <a:ext cx="5086353" cy="2286000"/>
          </a:xfrm>
          <a:prstGeom prst="rect">
            <a:avLst/>
          </a:prstGeom>
          <a:solidFill>
            <a:srgbClr val="262626"/>
          </a:solidFill>
          <a:ln>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4586487" y="405685"/>
            <a:ext cx="4098726" cy="1559301"/>
          </a:xfrm>
        </p:spPr>
        <p:txBody>
          <a:bodyPr>
            <a:normAutofit/>
          </a:bodyPr>
          <a:lstStyle/>
          <a:p>
            <a:r>
              <a:rPr lang="en-GB" sz="3500" dirty="0">
                <a:solidFill>
                  <a:schemeClr val="bg1"/>
                </a:solidFill>
              </a:rPr>
              <a:t>Problems and Solutions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848EA1-4116-CA47-D86F-7CC3295F4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0CC8-2796-7C93-70C4-EDC8D24DFBE7}"/>
              </a:ext>
            </a:extLst>
          </p:cNvPr>
          <p:cNvSpPr>
            <a:spLocks noGrp="1"/>
          </p:cNvSpPr>
          <p:nvPr>
            <p:ph type="title"/>
          </p:nvPr>
        </p:nvSpPr>
        <p:spPr>
          <a:xfrm>
            <a:off x="4371562" y="857038"/>
            <a:ext cx="4198652" cy="1402470"/>
          </a:xfrm>
        </p:spPr>
        <p:txBody>
          <a:bodyPr anchor="t">
            <a:normAutofit/>
          </a:bodyPr>
          <a:lstStyle/>
          <a:p>
            <a:r>
              <a:rPr lang="en-GB" sz="2800" dirty="0"/>
              <a:t>Bass Visualiser </a:t>
            </a:r>
          </a:p>
        </p:txBody>
      </p:sp>
      <p:pic>
        <p:nvPicPr>
          <p:cNvPr id="7" name="Picture 6">
            <a:extLst>
              <a:ext uri="{FF2B5EF4-FFF2-40B4-BE49-F238E27FC236}">
                <a16:creationId xmlns:a16="http://schemas.microsoft.com/office/drawing/2014/main" id="{68A96E85-5573-8C88-8C20-69A66660C195}"/>
              </a:ext>
            </a:extLst>
          </p:cNvPr>
          <p:cNvPicPr>
            <a:picLocks noChangeAspect="1"/>
          </p:cNvPicPr>
          <p:nvPr/>
        </p:nvPicPr>
        <p:blipFill>
          <a:blip r:embed="rId2"/>
          <a:stretch>
            <a:fillRect/>
          </a:stretch>
        </p:blipFill>
        <p:spPr>
          <a:xfrm>
            <a:off x="322623" y="1331644"/>
            <a:ext cx="2388703" cy="5459894"/>
          </a:xfrm>
          <a:prstGeom prst="rect">
            <a:avLst/>
          </a:prstGeom>
        </p:spPr>
      </p:pic>
      <p:cxnSp>
        <p:nvCxnSpPr>
          <p:cNvPr id="33" name="Straight Connector 3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4053"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8EE8ADD-CE69-67C3-205E-6B6F0E14441A}"/>
              </a:ext>
            </a:extLst>
          </p:cNvPr>
          <p:cNvSpPr>
            <a:spLocks noGrp="1"/>
          </p:cNvSpPr>
          <p:nvPr>
            <p:ph idx="1"/>
          </p:nvPr>
        </p:nvSpPr>
        <p:spPr>
          <a:xfrm>
            <a:off x="4670405" y="1331644"/>
            <a:ext cx="4083287" cy="3591207"/>
          </a:xfrm>
        </p:spPr>
        <p:txBody>
          <a:bodyPr>
            <a:noAutofit/>
          </a:bodyPr>
          <a:lstStyle/>
          <a:p>
            <a:pPr marL="0" indent="0">
              <a:lnSpc>
                <a:spcPct val="90000"/>
              </a:lnSpc>
              <a:buNone/>
            </a:pPr>
            <a:r>
              <a:rPr lang="en-GB" sz="1100" dirty="0"/>
              <a:t>One of the more complicated systems I created was the bass reactive visualiser for the levels. This system reacts to the music currently playing in the level and changes post processing effects based on the bass intensity. This helped make the game feel more dynamic and visually interesting.</a:t>
            </a:r>
          </a:p>
          <a:p>
            <a:pPr>
              <a:lnSpc>
                <a:spcPct val="90000"/>
              </a:lnSpc>
            </a:pPr>
            <a:endParaRPr lang="en-GB" sz="1100" dirty="0"/>
          </a:p>
          <a:p>
            <a:pPr marL="0" indent="0">
              <a:lnSpc>
                <a:spcPct val="90000"/>
              </a:lnSpc>
              <a:buNone/>
            </a:pPr>
            <a:r>
              <a:rPr lang="en-GB" sz="1100" dirty="0"/>
              <a:t>The system works by reading frequency data from the audio source using Unity’s </a:t>
            </a:r>
            <a:r>
              <a:rPr lang="en-GB" sz="1100" dirty="0" err="1"/>
              <a:t>GetSpectrumData</a:t>
            </a:r>
            <a:r>
              <a:rPr lang="en-GB" sz="1100" dirty="0"/>
              <a:t>() function. Lower indexes in the spectrum array are bass frequencies, so I focused mainly on those values.</a:t>
            </a:r>
          </a:p>
          <a:p>
            <a:pPr marL="0" indent="0">
              <a:lnSpc>
                <a:spcPct val="90000"/>
              </a:lnSpc>
              <a:buNone/>
            </a:pPr>
            <a:r>
              <a:rPr lang="en-GB" sz="1100" dirty="0"/>
              <a:t> </a:t>
            </a:r>
          </a:p>
          <a:p>
            <a:pPr marL="0" indent="0">
              <a:lnSpc>
                <a:spcPct val="90000"/>
              </a:lnSpc>
              <a:buNone/>
            </a:pPr>
            <a:endParaRPr lang="en-GB" sz="1100" dirty="0"/>
          </a:p>
          <a:p>
            <a:pPr marL="0" indent="0">
              <a:lnSpc>
                <a:spcPct val="90000"/>
              </a:lnSpc>
              <a:buNone/>
            </a:pPr>
            <a:r>
              <a:rPr lang="en-GB" sz="1100" dirty="0" err="1"/>
              <a:t>music.GetSpectrumData</a:t>
            </a:r>
            <a:r>
              <a:rPr lang="en-GB" sz="1100" dirty="0"/>
              <a:t>(spectrum, 0, </a:t>
            </a:r>
            <a:r>
              <a:rPr lang="en-GB" sz="1100" dirty="0" err="1"/>
              <a:t>FFTWindow.Blackman</a:t>
            </a:r>
            <a:r>
              <a:rPr lang="en-GB" sz="1100" dirty="0"/>
              <a:t>);</a:t>
            </a:r>
            <a:br>
              <a:rPr lang="en-GB" sz="1100" dirty="0"/>
            </a:br>
            <a:br>
              <a:rPr lang="en-GB" sz="1100" dirty="0"/>
            </a:br>
            <a:r>
              <a:rPr lang="en-GB" sz="1100" dirty="0"/>
              <a:t>float bass = 0f;</a:t>
            </a:r>
            <a:br>
              <a:rPr lang="en-GB" sz="1100" dirty="0"/>
            </a:br>
            <a:br>
              <a:rPr lang="en-GB" sz="1100" dirty="0"/>
            </a:br>
            <a:r>
              <a:rPr lang="en-GB" sz="1100" dirty="0"/>
              <a:t>for (int </a:t>
            </a:r>
            <a:r>
              <a:rPr lang="en-GB" sz="1100" dirty="0" err="1"/>
              <a:t>i</a:t>
            </a:r>
            <a:r>
              <a:rPr lang="en-GB" sz="1100" dirty="0"/>
              <a:t> = 0; </a:t>
            </a:r>
            <a:r>
              <a:rPr lang="en-GB" sz="1100" dirty="0" err="1"/>
              <a:t>i</a:t>
            </a:r>
            <a:r>
              <a:rPr lang="en-GB" sz="1100" dirty="0"/>
              <a:t> &lt; 3; </a:t>
            </a:r>
            <a:r>
              <a:rPr lang="en-GB" sz="1100" dirty="0" err="1"/>
              <a:t>i</a:t>
            </a:r>
            <a:r>
              <a:rPr lang="en-GB" sz="1100" dirty="0"/>
              <a:t>++)</a:t>
            </a:r>
            <a:br>
              <a:rPr lang="en-GB" sz="1100" dirty="0"/>
            </a:br>
            <a:r>
              <a:rPr lang="en-GB" sz="1100" dirty="0"/>
              <a:t>{</a:t>
            </a:r>
            <a:br>
              <a:rPr lang="en-GB" sz="1100" dirty="0"/>
            </a:br>
            <a:r>
              <a:rPr lang="en-GB" sz="1100" dirty="0"/>
              <a:t>   bass += spectrum[</a:t>
            </a:r>
            <a:r>
              <a:rPr lang="en-GB" sz="1100" dirty="0" err="1"/>
              <a:t>i</a:t>
            </a:r>
            <a:r>
              <a:rPr lang="en-GB" sz="1100" dirty="0"/>
              <a:t>];</a:t>
            </a:r>
            <a:br>
              <a:rPr lang="en-GB" sz="1100" dirty="0"/>
            </a:br>
            <a:r>
              <a:rPr lang="en-GB" sz="1100" dirty="0"/>
              <a:t>}</a:t>
            </a:r>
          </a:p>
          <a:p>
            <a:pPr marL="0" indent="0">
              <a:lnSpc>
                <a:spcPct val="90000"/>
              </a:lnSpc>
              <a:buNone/>
            </a:pPr>
            <a:endParaRPr lang="en-GB" sz="1100" dirty="0"/>
          </a:p>
          <a:p>
            <a:pPr marL="0" indent="0">
              <a:lnSpc>
                <a:spcPct val="90000"/>
              </a:lnSpc>
              <a:buNone/>
            </a:pPr>
            <a:r>
              <a:rPr lang="en-GB" sz="1100" dirty="0"/>
              <a:t>The bass value is then used to affect visual effects such as bloom and lens distortion, etc. I also used smoothing to stop the visuals from spamming too aggressively. </a:t>
            </a:r>
          </a:p>
          <a:p>
            <a:pPr marL="0" indent="0">
              <a:lnSpc>
                <a:spcPct val="90000"/>
              </a:lnSpc>
              <a:buNone/>
            </a:pPr>
            <a:endParaRPr lang="en-GB" sz="1100" dirty="0"/>
          </a:p>
          <a:p>
            <a:pPr marL="0" indent="0">
              <a:lnSpc>
                <a:spcPct val="90000"/>
              </a:lnSpc>
              <a:buNone/>
            </a:pPr>
            <a:r>
              <a:rPr lang="en-GB" sz="1100" dirty="0" err="1"/>
              <a:t>currentIntensity</a:t>
            </a:r>
            <a:r>
              <a:rPr lang="en-GB" sz="1100" dirty="0"/>
              <a:t> = </a:t>
            </a:r>
            <a:r>
              <a:rPr lang="en-GB" sz="1100" dirty="0" err="1"/>
              <a:t>Mathf.Lerp</a:t>
            </a:r>
            <a:r>
              <a:rPr lang="en-GB" sz="1100" dirty="0"/>
              <a:t>(</a:t>
            </a:r>
            <a:br>
              <a:rPr lang="en-GB" sz="1100" dirty="0"/>
            </a:br>
            <a:r>
              <a:rPr lang="en-GB" sz="1100" dirty="0"/>
              <a:t>   </a:t>
            </a:r>
            <a:r>
              <a:rPr lang="en-GB" sz="1100" dirty="0" err="1"/>
              <a:t>currentIntensity</a:t>
            </a:r>
            <a:r>
              <a:rPr lang="en-GB" sz="1100" dirty="0"/>
              <a:t>,</a:t>
            </a:r>
            <a:br>
              <a:rPr lang="en-GB" sz="1100" dirty="0"/>
            </a:br>
            <a:r>
              <a:rPr lang="en-GB" sz="1100" dirty="0"/>
              <a:t>   bass * </a:t>
            </a:r>
            <a:r>
              <a:rPr lang="en-GB" sz="1100" dirty="0" err="1"/>
              <a:t>intensityMultiplier</a:t>
            </a:r>
            <a:r>
              <a:rPr lang="en-GB" sz="1100" dirty="0"/>
              <a:t>,</a:t>
            </a:r>
            <a:br>
              <a:rPr lang="en-GB" sz="1100" dirty="0"/>
            </a:br>
            <a:r>
              <a:rPr lang="en-GB" sz="1100" dirty="0"/>
              <a:t>   </a:t>
            </a:r>
            <a:r>
              <a:rPr lang="en-GB" sz="1100" dirty="0" err="1"/>
              <a:t>Time.deltaTime</a:t>
            </a:r>
            <a:r>
              <a:rPr lang="en-GB" sz="1100" dirty="0"/>
              <a:t> * </a:t>
            </a:r>
            <a:r>
              <a:rPr lang="en-GB" sz="1100" dirty="0" err="1"/>
              <a:t>smoothSpeed</a:t>
            </a:r>
            <a:br>
              <a:rPr lang="en-GB" sz="1100" dirty="0"/>
            </a:br>
            <a:r>
              <a:rPr lang="en-GB" sz="1100" dirty="0"/>
              <a:t>);</a:t>
            </a:r>
          </a:p>
          <a:p>
            <a:pPr marL="0" indent="0">
              <a:lnSpc>
                <a:spcPct val="90000"/>
              </a:lnSpc>
              <a:buNone/>
            </a:pPr>
            <a:endParaRPr lang="en-GB" sz="1100" dirty="0"/>
          </a:p>
          <a:p>
            <a:pPr marL="0" indent="0">
              <a:lnSpc>
                <a:spcPct val="90000"/>
              </a:lnSpc>
              <a:buNone/>
            </a:pPr>
            <a:r>
              <a:rPr lang="en-GB" sz="1100" dirty="0"/>
              <a:t>This created a pulsing effect synced with the music and made the levels feel more and made the game seem like geometry dash. </a:t>
            </a:r>
            <a:endParaRPr lang="en-US" sz="1100" dirty="0"/>
          </a:p>
        </p:txBody>
      </p:sp>
      <p:cxnSp>
        <p:nvCxnSpPr>
          <p:cNvPr id="10" name="Straight Arrow Connector 9">
            <a:extLst>
              <a:ext uri="{FF2B5EF4-FFF2-40B4-BE49-F238E27FC236}">
                <a16:creationId xmlns:a16="http://schemas.microsoft.com/office/drawing/2014/main" id="{F500D7EE-1DF9-3D0D-0132-55FD0D8953EF}"/>
              </a:ext>
            </a:extLst>
          </p:cNvPr>
          <p:cNvCxnSpPr>
            <a:cxnSpLocks/>
          </p:cNvCxnSpPr>
          <p:nvPr/>
        </p:nvCxnSpPr>
        <p:spPr>
          <a:xfrm flipH="1">
            <a:off x="1691640" y="969264"/>
            <a:ext cx="265176" cy="493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45582FF-8E58-1C3C-8543-D4193A3107E5}"/>
              </a:ext>
            </a:extLst>
          </p:cNvPr>
          <p:cNvSpPr txBox="1"/>
          <p:nvPr/>
        </p:nvSpPr>
        <p:spPr>
          <a:xfrm>
            <a:off x="918422" y="672372"/>
            <a:ext cx="2076787" cy="369332"/>
          </a:xfrm>
          <a:prstGeom prst="rect">
            <a:avLst/>
          </a:prstGeom>
          <a:noFill/>
        </p:spPr>
        <p:txBody>
          <a:bodyPr wrap="none" rtlCol="0">
            <a:spAutoFit/>
          </a:bodyPr>
          <a:lstStyle/>
          <a:p>
            <a:r>
              <a:rPr lang="en-GB" dirty="0"/>
              <a:t>My bass pulse script</a:t>
            </a:r>
          </a:p>
        </p:txBody>
      </p:sp>
      <p:cxnSp>
        <p:nvCxnSpPr>
          <p:cNvPr id="29" name="Straight Arrow Connector 28">
            <a:extLst>
              <a:ext uri="{FF2B5EF4-FFF2-40B4-BE49-F238E27FC236}">
                <a16:creationId xmlns:a16="http://schemas.microsoft.com/office/drawing/2014/main" id="{529C243D-2439-43EB-6AFC-718DFEFACB53}"/>
              </a:ext>
            </a:extLst>
          </p:cNvPr>
          <p:cNvCxnSpPr/>
          <p:nvPr/>
        </p:nvCxnSpPr>
        <p:spPr>
          <a:xfrm flipH="1">
            <a:off x="1516974" y="2414016"/>
            <a:ext cx="3219618" cy="30266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C965B5E-E93F-A4C3-57DD-51F6AF62267C}"/>
              </a:ext>
            </a:extLst>
          </p:cNvPr>
          <p:cNvCxnSpPr/>
          <p:nvPr/>
        </p:nvCxnSpPr>
        <p:spPr>
          <a:xfrm flipH="1">
            <a:off x="2711326" y="5093208"/>
            <a:ext cx="2025266" cy="1261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1972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A4E760-1D7A-A187-9ACB-D7ED67E91122}"/>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5287" y="0"/>
            <a:ext cx="633870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0"/>
            <a:ext cx="280888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CEE96A-F547-460F-9597-24B5D4271B13}"/>
              </a:ext>
            </a:extLst>
          </p:cNvPr>
          <p:cNvSpPr>
            <a:spLocks noGrp="1"/>
          </p:cNvSpPr>
          <p:nvPr>
            <p:ph type="title"/>
          </p:nvPr>
        </p:nvSpPr>
        <p:spPr>
          <a:xfrm>
            <a:off x="867639" y="637762"/>
            <a:ext cx="1643086" cy="5576770"/>
          </a:xfrm>
        </p:spPr>
        <p:txBody>
          <a:bodyPr anchor="t">
            <a:normAutofit/>
          </a:bodyPr>
          <a:lstStyle/>
          <a:p>
            <a:pPr algn="l"/>
            <a:r>
              <a:rPr lang="en-GB" sz="2600">
                <a:solidFill>
                  <a:schemeClr val="bg1"/>
                </a:solidFill>
              </a:rPr>
              <a:t>Post Processing Effects</a:t>
            </a:r>
          </a:p>
        </p:txBody>
      </p:sp>
      <p:sp>
        <p:nvSpPr>
          <p:cNvPr id="37" name="Rectangle 36">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1049" y="643465"/>
            <a:ext cx="3429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671EA9-1842-D3AF-2517-2333E2113115}"/>
              </a:ext>
            </a:extLst>
          </p:cNvPr>
          <p:cNvSpPr>
            <a:spLocks noGrp="1"/>
          </p:cNvSpPr>
          <p:nvPr>
            <p:ph idx="1"/>
          </p:nvPr>
        </p:nvSpPr>
        <p:spPr>
          <a:xfrm>
            <a:off x="3491049" y="850052"/>
            <a:ext cx="4792967" cy="5326911"/>
          </a:xfrm>
        </p:spPr>
        <p:txBody>
          <a:bodyPr>
            <a:normAutofit/>
          </a:bodyPr>
          <a:lstStyle/>
          <a:p>
            <a:pPr marL="0" indent="0">
              <a:lnSpc>
                <a:spcPct val="90000"/>
              </a:lnSpc>
              <a:buNone/>
            </a:pPr>
            <a:br>
              <a:rPr lang="en-GB" sz="1200"/>
            </a:br>
            <a:br>
              <a:rPr lang="en-GB" sz="1200"/>
            </a:br>
            <a:r>
              <a:rPr lang="en-GB" sz="1200"/>
              <a:t>my game uses post processing effects to improve the design and exaggerate the rage style gameplay. Effects that I used were bloom, chromatic aberration, vignette, film grain, and lens distortion. The strongest effect is the lens distortion because it visually warps the screen to the beat of the music and kinda makes the game look retro.</a:t>
            </a:r>
            <a:br>
              <a:rPr lang="en-GB" sz="1200"/>
            </a:br>
            <a:br>
              <a:rPr lang="en-GB" sz="1200"/>
            </a:br>
            <a:r>
              <a:rPr lang="en-GB" sz="1200"/>
              <a:t>This system is connected to the bass visualiser, meaning effects become stronger during louder parts of songs.</a:t>
            </a:r>
            <a:br>
              <a:rPr lang="en-GB" sz="1200"/>
            </a:br>
            <a:br>
              <a:rPr lang="en-GB" sz="1200"/>
            </a:br>
            <a:r>
              <a:rPr lang="en-GB" sz="1200"/>
              <a:t>Example code:</a:t>
            </a:r>
          </a:p>
          <a:p>
            <a:pPr marL="0" indent="0">
              <a:lnSpc>
                <a:spcPct val="90000"/>
              </a:lnSpc>
              <a:buNone/>
            </a:pPr>
            <a:r>
              <a:rPr lang="en-GB" sz="1200"/>
              <a:t>lensDistortion.intensity.value = -currentIntensity; </a:t>
            </a:r>
          </a:p>
          <a:p>
            <a:pPr marL="0" indent="0">
              <a:lnSpc>
                <a:spcPct val="90000"/>
              </a:lnSpc>
              <a:buNone/>
            </a:pPr>
            <a:endParaRPr lang="en-GB" sz="1200"/>
          </a:p>
          <a:p>
            <a:pPr marL="0" indent="0">
              <a:lnSpc>
                <a:spcPct val="90000"/>
              </a:lnSpc>
              <a:buNone/>
            </a:pPr>
            <a:r>
              <a:rPr lang="en-GB" sz="1200"/>
              <a:t>Negative intensity values pull the screen inward which creates the warped effect seen during gameplay.</a:t>
            </a:r>
            <a:br>
              <a:rPr lang="en-GB" sz="1200"/>
            </a:br>
            <a:br>
              <a:rPr lang="en-GB" sz="1200"/>
            </a:br>
            <a:br>
              <a:rPr lang="en-GB" sz="1200"/>
            </a:br>
            <a:r>
              <a:rPr lang="en-GB" sz="1200"/>
              <a:t>Pause Menu and UI Systems</a:t>
            </a:r>
            <a:br>
              <a:rPr lang="en-GB" sz="1200"/>
            </a:br>
            <a:br>
              <a:rPr lang="en-GB" sz="1200"/>
            </a:br>
            <a:r>
              <a:rPr lang="en-GB" sz="1200"/>
              <a:t>The pause menu was made to also allow players to pause gameplay and adjust settings such as audio and visual effects. The system works by changing Unity’s timescale.</a:t>
            </a:r>
          </a:p>
          <a:p>
            <a:pPr marL="0" indent="0">
              <a:lnSpc>
                <a:spcPct val="90000"/>
              </a:lnSpc>
              <a:buNone/>
            </a:pPr>
            <a:endParaRPr lang="en-GB" sz="1200"/>
          </a:p>
          <a:p>
            <a:pPr marL="0" indent="0">
              <a:lnSpc>
                <a:spcPct val="90000"/>
              </a:lnSpc>
              <a:buNone/>
            </a:pPr>
            <a:r>
              <a:rPr lang="en-GB" sz="1200"/>
              <a:t>Time.timeScale = 0f; When paused, gameplay systems stop updating while the UI remains active. Resuming sets the timescale back to normal. Time.timeScale = 1f; I also added settings toggles for post processing effects such as bloom and lens distortion. These toggles directly enable or disable features from the bass visualiser script for players who don’t enjoy these effects. </a:t>
            </a:r>
            <a:endParaRPr lang="en-US" sz="1200"/>
          </a:p>
        </p:txBody>
      </p:sp>
    </p:spTree>
    <p:extLst>
      <p:ext uri="{BB962C8B-B14F-4D97-AF65-F5344CB8AC3E}">
        <p14:creationId xmlns:p14="http://schemas.microsoft.com/office/powerpoint/2010/main" val="12685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E15C37-56E4-834D-50C8-C6BE70BE8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7F97A-8B20-6775-6D41-52D3D6BA8716}"/>
              </a:ext>
            </a:extLst>
          </p:cNvPr>
          <p:cNvSpPr>
            <a:spLocks noGrp="1"/>
          </p:cNvSpPr>
          <p:nvPr>
            <p:ph type="title"/>
          </p:nvPr>
        </p:nvSpPr>
        <p:spPr>
          <a:xfrm>
            <a:off x="360759" y="3752849"/>
            <a:ext cx="2468166" cy="2452687"/>
          </a:xfrm>
        </p:spPr>
        <p:txBody>
          <a:bodyPr anchor="ctr">
            <a:normAutofit/>
          </a:bodyPr>
          <a:lstStyle/>
          <a:p>
            <a:r>
              <a:rPr lang="en-GB" sz="3100"/>
              <a:t>Testing and feedback</a:t>
            </a:r>
          </a:p>
        </p:txBody>
      </p:sp>
      <p:pic>
        <p:nvPicPr>
          <p:cNvPr id="5" name="Picture 4">
            <a:extLst>
              <a:ext uri="{FF2B5EF4-FFF2-40B4-BE49-F238E27FC236}">
                <a16:creationId xmlns:a16="http://schemas.microsoft.com/office/drawing/2014/main" id="{275E6079-4753-CC66-1AD7-8DB7B6D13DA3}"/>
              </a:ext>
            </a:extLst>
          </p:cNvPr>
          <p:cNvPicPr>
            <a:picLocks noChangeAspect="1"/>
          </p:cNvPicPr>
          <p:nvPr/>
        </p:nvPicPr>
        <p:blipFill>
          <a:blip r:embed="rId2"/>
          <a:srcRect t="4627" b="10365"/>
          <a:stretch>
            <a:fillRect/>
          </a:stretch>
        </p:blipFill>
        <p:spPr>
          <a:xfrm>
            <a:off x="0" y="-310896"/>
            <a:ext cx="9143980" cy="44695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B90516C5-72F9-D16B-CE09-AF62B19A8F1A}"/>
              </a:ext>
            </a:extLst>
          </p:cNvPr>
          <p:cNvSpPr>
            <a:spLocks noGrp="1"/>
          </p:cNvSpPr>
          <p:nvPr>
            <p:ph idx="1"/>
          </p:nvPr>
        </p:nvSpPr>
        <p:spPr>
          <a:xfrm>
            <a:off x="3167986" y="3752850"/>
            <a:ext cx="5614060" cy="2452687"/>
          </a:xfrm>
        </p:spPr>
        <p:txBody>
          <a:bodyPr anchor="ctr">
            <a:normAutofit/>
          </a:bodyPr>
          <a:lstStyle/>
          <a:p>
            <a:pPr marL="0" indent="0">
              <a:lnSpc>
                <a:spcPct val="90000"/>
              </a:lnSpc>
              <a:buNone/>
            </a:pPr>
            <a:br>
              <a:rPr lang="en-GB" sz="1200" dirty="0"/>
            </a:br>
            <a:br>
              <a:rPr lang="en-GB" sz="1200" dirty="0"/>
            </a:br>
            <a:r>
              <a:rPr lang="en-GB" sz="1200" dirty="0"/>
              <a:t>Player feedback played an important part during the development. Play testing showed that while players enjoyed the challenge, some mechanics were unclear at first which led to changes such as adding tutorial indicators and adjusting jump timing.</a:t>
            </a:r>
            <a:br>
              <a:rPr lang="en-GB" sz="1200" dirty="0"/>
            </a:br>
            <a:br>
              <a:rPr lang="en-GB" sz="1200" dirty="0"/>
            </a:br>
            <a:r>
              <a:rPr lang="en-GB" sz="1200" dirty="0"/>
              <a:t>The game achieved its intended goal as several testers became visibly frustrated whilst still trying to finish the levels, which matches the design goals of a rage platformer.</a:t>
            </a:r>
          </a:p>
          <a:p>
            <a:pPr marL="0" indent="0">
              <a:lnSpc>
                <a:spcPct val="90000"/>
              </a:lnSpc>
              <a:buNone/>
            </a:pPr>
            <a:endParaRPr lang="en-GB" sz="1200" dirty="0"/>
          </a:p>
          <a:p>
            <a:pPr marL="0" indent="0">
              <a:lnSpc>
                <a:spcPct val="90000"/>
              </a:lnSpc>
              <a:buNone/>
            </a:pPr>
            <a:r>
              <a:rPr lang="en-GB" sz="1200" dirty="0"/>
              <a:t>Some testers mentioned the difficulty scaling Is crazy but this was intended and I will be keeping this as is.</a:t>
            </a:r>
            <a:endParaRPr lang="en-US" sz="1200" dirty="0"/>
          </a:p>
        </p:txBody>
      </p:sp>
      <p:cxnSp>
        <p:nvCxnSpPr>
          <p:cNvPr id="7" name="Straight Arrow Connector 6">
            <a:extLst>
              <a:ext uri="{FF2B5EF4-FFF2-40B4-BE49-F238E27FC236}">
                <a16:creationId xmlns:a16="http://schemas.microsoft.com/office/drawing/2014/main" id="{313B2932-B946-E750-7181-C3CF69991D5B}"/>
              </a:ext>
            </a:extLst>
          </p:cNvPr>
          <p:cNvCxnSpPr/>
          <p:nvPr/>
        </p:nvCxnSpPr>
        <p:spPr>
          <a:xfrm>
            <a:off x="1051560" y="73152"/>
            <a:ext cx="722376" cy="1088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968DED5-B2D6-C85D-B7B3-1FBDD5BAFA2A}"/>
              </a:ext>
            </a:extLst>
          </p:cNvPr>
          <p:cNvSpPr txBox="1"/>
          <p:nvPr/>
        </p:nvSpPr>
        <p:spPr>
          <a:xfrm>
            <a:off x="1051560" y="1113782"/>
            <a:ext cx="1559722" cy="369332"/>
          </a:xfrm>
          <a:prstGeom prst="rect">
            <a:avLst/>
          </a:prstGeom>
          <a:noFill/>
        </p:spPr>
        <p:txBody>
          <a:bodyPr wrap="none" rtlCol="0">
            <a:spAutoFit/>
          </a:bodyPr>
          <a:lstStyle/>
          <a:p>
            <a:r>
              <a:rPr lang="en-GB" dirty="0">
                <a:solidFill>
                  <a:schemeClr val="bg1"/>
                </a:solidFill>
              </a:rPr>
              <a:t>Death Counter</a:t>
            </a:r>
          </a:p>
        </p:txBody>
      </p:sp>
      <p:cxnSp>
        <p:nvCxnSpPr>
          <p:cNvPr id="12" name="Straight Arrow Connector 11">
            <a:extLst>
              <a:ext uri="{FF2B5EF4-FFF2-40B4-BE49-F238E27FC236}">
                <a16:creationId xmlns:a16="http://schemas.microsoft.com/office/drawing/2014/main" id="{9D932FCD-38E5-5666-A30F-4403853D85AC}"/>
              </a:ext>
            </a:extLst>
          </p:cNvPr>
          <p:cNvCxnSpPr/>
          <p:nvPr/>
        </p:nvCxnSpPr>
        <p:spPr>
          <a:xfrm flipH="1">
            <a:off x="7251192" y="1627632"/>
            <a:ext cx="128016" cy="8412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0F76E24-AF33-A686-D5B1-EE8A7769C2C2}"/>
              </a:ext>
            </a:extLst>
          </p:cNvPr>
          <p:cNvSpPr txBox="1"/>
          <p:nvPr/>
        </p:nvSpPr>
        <p:spPr>
          <a:xfrm>
            <a:off x="6940947" y="1258300"/>
            <a:ext cx="876522" cy="369332"/>
          </a:xfrm>
          <a:prstGeom prst="rect">
            <a:avLst/>
          </a:prstGeom>
          <a:noFill/>
        </p:spPr>
        <p:txBody>
          <a:bodyPr wrap="none" rtlCol="0">
            <a:spAutoFit/>
          </a:bodyPr>
          <a:lstStyle/>
          <a:p>
            <a:r>
              <a:rPr lang="en-GB" dirty="0">
                <a:solidFill>
                  <a:schemeClr val="bg1"/>
                </a:solidFill>
              </a:rPr>
              <a:t>tutorial</a:t>
            </a:r>
          </a:p>
        </p:txBody>
      </p:sp>
      <p:cxnSp>
        <p:nvCxnSpPr>
          <p:cNvPr id="15" name="Straight Arrow Connector 14">
            <a:extLst>
              <a:ext uri="{FF2B5EF4-FFF2-40B4-BE49-F238E27FC236}">
                <a16:creationId xmlns:a16="http://schemas.microsoft.com/office/drawing/2014/main" id="{03A83570-B267-3F54-BBFF-8E2D20E518A7}"/>
              </a:ext>
            </a:extLst>
          </p:cNvPr>
          <p:cNvCxnSpPr/>
          <p:nvPr/>
        </p:nvCxnSpPr>
        <p:spPr>
          <a:xfrm flipH="1">
            <a:off x="5010912" y="1700784"/>
            <a:ext cx="457200" cy="502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FCDD70C-989D-6FC9-F34C-F139A1B0CEC8}"/>
              </a:ext>
            </a:extLst>
          </p:cNvPr>
          <p:cNvCxnSpPr/>
          <p:nvPr/>
        </p:nvCxnSpPr>
        <p:spPr>
          <a:xfrm>
            <a:off x="6099048" y="1113782"/>
            <a:ext cx="749808" cy="19677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F8AF0CC-7496-86BC-6947-D29BB62A02DD}"/>
              </a:ext>
            </a:extLst>
          </p:cNvPr>
          <p:cNvSpPr txBox="1"/>
          <p:nvPr/>
        </p:nvSpPr>
        <p:spPr>
          <a:xfrm>
            <a:off x="5132835" y="1351645"/>
            <a:ext cx="762645" cy="369332"/>
          </a:xfrm>
          <a:prstGeom prst="rect">
            <a:avLst/>
          </a:prstGeom>
          <a:noFill/>
        </p:spPr>
        <p:txBody>
          <a:bodyPr wrap="none" rtlCol="0">
            <a:spAutoFit/>
          </a:bodyPr>
          <a:lstStyle/>
          <a:p>
            <a:r>
              <a:rPr lang="en-GB" dirty="0">
                <a:solidFill>
                  <a:schemeClr val="bg1"/>
                </a:solidFill>
              </a:rPr>
              <a:t>player</a:t>
            </a:r>
          </a:p>
        </p:txBody>
      </p:sp>
      <p:sp>
        <p:nvSpPr>
          <p:cNvPr id="21" name="TextBox 20">
            <a:extLst>
              <a:ext uri="{FF2B5EF4-FFF2-40B4-BE49-F238E27FC236}">
                <a16:creationId xmlns:a16="http://schemas.microsoft.com/office/drawing/2014/main" id="{427B5701-B514-E4DA-E1DC-3F62ED3AC45C}"/>
              </a:ext>
            </a:extLst>
          </p:cNvPr>
          <p:cNvSpPr txBox="1"/>
          <p:nvPr/>
        </p:nvSpPr>
        <p:spPr>
          <a:xfrm>
            <a:off x="5730888" y="778097"/>
            <a:ext cx="569451" cy="369332"/>
          </a:xfrm>
          <a:prstGeom prst="rect">
            <a:avLst/>
          </a:prstGeom>
          <a:noFill/>
        </p:spPr>
        <p:txBody>
          <a:bodyPr wrap="none" rtlCol="0">
            <a:spAutoFit/>
          </a:bodyPr>
          <a:lstStyle/>
          <a:p>
            <a:r>
              <a:rPr lang="en-GB" dirty="0">
                <a:solidFill>
                  <a:schemeClr val="bg1"/>
                </a:solidFill>
              </a:rPr>
              <a:t>trap</a:t>
            </a:r>
          </a:p>
        </p:txBody>
      </p:sp>
    </p:spTree>
    <p:extLst>
      <p:ext uri="{BB962C8B-B14F-4D97-AF65-F5344CB8AC3E}">
        <p14:creationId xmlns:p14="http://schemas.microsoft.com/office/powerpoint/2010/main" val="3333566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1161</Words>
  <Application>Microsoft Office PowerPoint</Application>
  <PresentationFormat>On-screen Show (4:3)</PresentationFormat>
  <Paragraphs>71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Design Document Prototype 1</vt:lpstr>
      <vt:lpstr>Game Mechanics</vt:lpstr>
      <vt:lpstr>Objectives</vt:lpstr>
      <vt:lpstr>Core Gameplay Loop</vt:lpstr>
      <vt:lpstr>Level Design</vt:lpstr>
      <vt:lpstr>Systems Development</vt:lpstr>
      <vt:lpstr>Annotated Screenshot</vt:lpstr>
      <vt:lpstr>Problems and Solutions</vt:lpstr>
      <vt:lpstr>Bass Visualiser </vt:lpstr>
      <vt:lpstr>Post Processing Effects</vt:lpstr>
      <vt:lpstr>Testing and feedback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Edgar Pereira</cp:lastModifiedBy>
  <cp:revision>4</cp:revision>
  <dcterms:created xsi:type="dcterms:W3CDTF">2013-01-27T09:14:16Z</dcterms:created>
  <dcterms:modified xsi:type="dcterms:W3CDTF">2026-05-08T10:03:11Z</dcterms:modified>
  <cp:category/>
</cp:coreProperties>
</file>