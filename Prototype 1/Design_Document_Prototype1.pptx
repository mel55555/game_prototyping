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0"/>
  </p:notesMasterIdLst>
  <p:sldIdLst>
    <p:sldId id="256" r:id="rId2"/>
    <p:sldId id="257" r:id="rId3"/>
    <p:sldId id="258" r:id="rId4"/>
    <p:sldId id="259" r:id="rId5"/>
    <p:sldId id="260" r:id="rId6"/>
    <p:sldId id="261" r:id="rId7"/>
    <p:sldId id="262" r:id="rId8"/>
    <p:sldId id="263" r:id="rId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62626"/>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91" d="100"/>
          <a:sy n="91" d="100"/>
        </p:scale>
        <p:origin x="3136" y="5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B6B4484-2918-432D-AEA9-C72E81B09694}" type="datetimeFigureOut">
              <a:rPr lang="en-GB" smtClean="0"/>
              <a:t>02/05/2026</a:t>
            </a:fld>
            <a:endParaRPr lang="en-GB"/>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7672DF0-7489-40BF-85EC-81EB76E4193B}" type="slidenum">
              <a:rPr lang="en-GB" smtClean="0"/>
              <a:t>‹#›</a:t>
            </a:fld>
            <a:endParaRPr lang="en-GB"/>
          </a:p>
        </p:txBody>
      </p:sp>
    </p:spTree>
    <p:extLst>
      <p:ext uri="{BB962C8B-B14F-4D97-AF65-F5344CB8AC3E}">
        <p14:creationId xmlns:p14="http://schemas.microsoft.com/office/powerpoint/2010/main" val="22701780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5/2/2026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5/2/2026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5/2/2026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5/2/2026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5/2/2026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5/2/2026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5/2/2026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Slide Background">
            <a:extLst>
              <a:ext uri="{FF2B5EF4-FFF2-40B4-BE49-F238E27FC236}">
                <a16:creationId xmlns:a16="http://schemas.microsoft.com/office/drawing/2014/main" id="{9F7D5CDA-D291-4307-BF55-1381FED296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n arrow on a line map">
            <a:extLst>
              <a:ext uri="{FF2B5EF4-FFF2-40B4-BE49-F238E27FC236}">
                <a16:creationId xmlns:a16="http://schemas.microsoft.com/office/drawing/2014/main" id="{42433D76-7E30-5D07-28AB-606E88F4C39F}"/>
              </a:ext>
            </a:extLst>
          </p:cNvPr>
          <p:cNvPicPr>
            <a:picLocks noChangeAspect="1"/>
          </p:cNvPicPr>
          <p:nvPr/>
        </p:nvPicPr>
        <p:blipFill>
          <a:blip r:embed="rId2"/>
          <a:srcRect l="2030" r="53521" b="-1"/>
          <a:stretch>
            <a:fillRect/>
          </a:stretch>
        </p:blipFill>
        <p:spPr>
          <a:xfrm>
            <a:off x="4577270" y="10"/>
            <a:ext cx="4566728" cy="6857990"/>
          </a:xfrm>
          <a:prstGeom prst="rect">
            <a:avLst/>
          </a:prstGeom>
        </p:spPr>
      </p:pic>
      <p:sp useBgFill="1">
        <p:nvSpPr>
          <p:cNvPr id="11" name="Rectangle 10">
            <a:extLst>
              <a:ext uri="{FF2B5EF4-FFF2-40B4-BE49-F238E27FC236}">
                <a16:creationId xmlns:a16="http://schemas.microsoft.com/office/drawing/2014/main" id="{59B296B9-C5A5-4E4F-9B60-C907B5F146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577268" cy="6858000"/>
          </a:xfrm>
          <a:prstGeom prst="rect">
            <a:avLst/>
          </a:prstGeom>
          <a:ln>
            <a:noFill/>
          </a:ln>
          <a:effectLst>
            <a:outerShdw blurRad="889000" dist="406400" dir="21540000" sx="90000" sy="90000" algn="t" rotWithShape="0">
              <a:srgbClr val="000000">
                <a:alpha val="20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3" name="Rectangle 12">
            <a:extLst>
              <a:ext uri="{FF2B5EF4-FFF2-40B4-BE49-F238E27FC236}">
                <a16:creationId xmlns:a16="http://schemas.microsoft.com/office/drawing/2014/main" id="{D0300FD3-5AF1-6305-15FA-9078072672E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577268" cy="2285995"/>
          </a:xfrm>
          <a:prstGeom prst="rect">
            <a:avLst/>
          </a:prstGeom>
          <a:ln>
            <a:noFill/>
          </a:ln>
          <a:effectLst>
            <a:outerShdw blurRad="254000" dist="127000" dir="5460000" sx="92000" sy="92000" algn="t" rotWithShape="0">
              <a:srgbClr val="000000">
                <a:alpha val="30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p:cNvSpPr>
            <a:spLocks noGrp="1"/>
          </p:cNvSpPr>
          <p:nvPr>
            <p:ph idx="1"/>
          </p:nvPr>
        </p:nvSpPr>
        <p:spPr>
          <a:xfrm>
            <a:off x="535956" y="3369922"/>
            <a:ext cx="3494817" cy="2384898"/>
          </a:xfrm>
        </p:spPr>
        <p:txBody>
          <a:bodyPr anchor="ctr">
            <a:noAutofit/>
          </a:bodyPr>
          <a:lstStyle/>
          <a:p>
            <a:r>
              <a:rPr lang="en-GB" sz="2400" dirty="0"/>
              <a:t>Name: Edgar Pereira</a:t>
            </a:r>
          </a:p>
          <a:p>
            <a:r>
              <a:rPr lang="en-GB" sz="2400" dirty="0"/>
              <a:t>Username: P010519P</a:t>
            </a:r>
          </a:p>
          <a:p>
            <a:endParaRPr lang="en-GB" sz="2400" dirty="0"/>
          </a:p>
          <a:p>
            <a:r>
              <a:rPr lang="en-GB" sz="2400" dirty="0"/>
              <a:t>Rage platformer prototype inspired by Geometry Dash platformer mode.</a:t>
            </a:r>
          </a:p>
          <a:p>
            <a:r>
              <a:rPr lang="en-GB" sz="2400" dirty="0"/>
              <a:t>Focus is on precision, difficulty and simple visuals.</a:t>
            </a:r>
          </a:p>
        </p:txBody>
      </p:sp>
      <p:sp>
        <p:nvSpPr>
          <p:cNvPr id="4" name="Rectangle 3">
            <a:extLst>
              <a:ext uri="{FF2B5EF4-FFF2-40B4-BE49-F238E27FC236}">
                <a16:creationId xmlns:a16="http://schemas.microsoft.com/office/drawing/2014/main" id="{84375AA5-8209-5D12-7DFD-297AF1A5108E}"/>
              </a:ext>
            </a:extLst>
          </p:cNvPr>
          <p:cNvSpPr/>
          <p:nvPr/>
        </p:nvSpPr>
        <p:spPr>
          <a:xfrm>
            <a:off x="1" y="-5"/>
            <a:ext cx="4566728" cy="2286000"/>
          </a:xfrm>
          <a:prstGeom prst="rect">
            <a:avLst/>
          </a:prstGeom>
          <a:solidFill>
            <a:srgbClr val="262626"/>
          </a:solidFill>
          <a:ln>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GB" dirty="0"/>
          </a:p>
        </p:txBody>
      </p:sp>
      <p:sp>
        <p:nvSpPr>
          <p:cNvPr id="2" name="Title 1"/>
          <p:cNvSpPr>
            <a:spLocks noGrp="1"/>
          </p:cNvSpPr>
          <p:nvPr>
            <p:ph type="title"/>
          </p:nvPr>
        </p:nvSpPr>
        <p:spPr>
          <a:xfrm>
            <a:off x="571350" y="328512"/>
            <a:ext cx="3583791" cy="1628970"/>
          </a:xfrm>
        </p:spPr>
        <p:txBody>
          <a:bodyPr anchor="ctr">
            <a:normAutofit/>
          </a:bodyPr>
          <a:lstStyle/>
          <a:p>
            <a:r>
              <a:rPr lang="en-GB" sz="3500" dirty="0">
                <a:solidFill>
                  <a:schemeClr val="bg1"/>
                </a:solidFill>
              </a:rPr>
              <a:t>Design Document Prototype 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70DFC902-7D23-471A-B557-B6B6917D7A0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 y="-5705"/>
            <a:ext cx="9143993" cy="1694346"/>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67638" y="637762"/>
            <a:ext cx="7416372" cy="900131"/>
          </a:xfrm>
        </p:spPr>
        <p:txBody>
          <a:bodyPr anchor="t">
            <a:normAutofit/>
          </a:bodyPr>
          <a:lstStyle/>
          <a:p>
            <a:pPr algn="l"/>
            <a:r>
              <a:rPr lang="en-GB" sz="3500">
                <a:solidFill>
                  <a:schemeClr val="bg1"/>
                </a:solidFill>
              </a:rPr>
              <a:t>Game Mechanics</a:t>
            </a:r>
          </a:p>
        </p:txBody>
      </p:sp>
      <p:sp>
        <p:nvSpPr>
          <p:cNvPr id="10" name="Rectangle 9">
            <a:extLst>
              <a:ext uri="{FF2B5EF4-FFF2-40B4-BE49-F238E27FC236}">
                <a16:creationId xmlns:a16="http://schemas.microsoft.com/office/drawing/2014/main" id="{A55D5633-D557-4DCA-982C-FF36EB7A1C0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688641"/>
            <a:ext cx="9143992" cy="516935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450D3AD2-FA80-415F-A9CE-54D884561C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67638" y="2010758"/>
            <a:ext cx="342892" cy="4571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p:cNvSpPr>
            <a:spLocks noGrp="1"/>
          </p:cNvSpPr>
          <p:nvPr>
            <p:ph idx="1"/>
          </p:nvPr>
        </p:nvSpPr>
        <p:spPr>
          <a:xfrm>
            <a:off x="866661" y="2217343"/>
            <a:ext cx="7410669" cy="3959619"/>
          </a:xfrm>
        </p:spPr>
        <p:txBody>
          <a:bodyPr>
            <a:normAutofit/>
          </a:bodyPr>
          <a:lstStyle/>
          <a:p>
            <a:pPr marL="0" indent="0">
              <a:buNone/>
            </a:pPr>
            <a:r>
              <a:rPr lang="en-US" sz="2100"/>
              <a:t>The game focuses on simple movement mechanics including horizontal movement, jumping and double jumping. These mechanics are intentionally simple due to requirements but still require precision and practice. The double jump allows for more complex level design and increases the skill ceiling. Collision detection ensures jumps reset properly, creating a consistent experience. The mechanics were tested many times, and adjusted to avoid floaty/slow movement and instead feel responsive and controlled.</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70DFC902-7D23-471A-B557-B6B6917D7A0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 y="-5705"/>
            <a:ext cx="9143993" cy="1694346"/>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67638" y="637762"/>
            <a:ext cx="7416372" cy="900131"/>
          </a:xfrm>
        </p:spPr>
        <p:txBody>
          <a:bodyPr anchor="t">
            <a:normAutofit/>
          </a:bodyPr>
          <a:lstStyle/>
          <a:p>
            <a:pPr algn="l"/>
            <a:r>
              <a:rPr lang="en-GB" sz="3500">
                <a:solidFill>
                  <a:schemeClr val="bg1"/>
                </a:solidFill>
              </a:rPr>
              <a:t>Objectives</a:t>
            </a:r>
          </a:p>
        </p:txBody>
      </p:sp>
      <p:sp>
        <p:nvSpPr>
          <p:cNvPr id="10" name="Rectangle 9">
            <a:extLst>
              <a:ext uri="{FF2B5EF4-FFF2-40B4-BE49-F238E27FC236}">
                <a16:creationId xmlns:a16="http://schemas.microsoft.com/office/drawing/2014/main" id="{A55D5633-D557-4DCA-982C-FF36EB7A1C0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688641"/>
            <a:ext cx="9143992" cy="516935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450D3AD2-FA80-415F-A9CE-54D884561C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67638" y="2010758"/>
            <a:ext cx="342892" cy="4571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p:cNvSpPr>
            <a:spLocks noGrp="1"/>
          </p:cNvSpPr>
          <p:nvPr>
            <p:ph idx="1"/>
          </p:nvPr>
        </p:nvSpPr>
        <p:spPr>
          <a:xfrm>
            <a:off x="866661" y="2217343"/>
            <a:ext cx="7410669" cy="3959619"/>
          </a:xfrm>
        </p:spPr>
        <p:txBody>
          <a:bodyPr>
            <a:normAutofit/>
          </a:bodyPr>
          <a:lstStyle/>
          <a:p>
            <a:pPr marL="0" indent="0">
              <a:buNone/>
            </a:pPr>
            <a:r>
              <a:rPr lang="en-US" sz="2100"/>
              <a:t>The objective is to complete each level by reaching the end without getting hot by a spike trap once. The player must avoid falling and time jumps correctly. The design encourages trial and error rather than any rewards or scoring systems. Difficulty increases across levels, forcing players to learn patterns and improve their timing whilst also introducing new traps and mechanics. The goal is to create a frustrating experience that gives the player a sense of satisfaction upon completion.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404040"/>
        </a:solidFill>
        <a:effectLst/>
      </p:bgPr>
    </p:bg>
    <p:spTree>
      <p:nvGrpSpPr>
        <p:cNvPr id="1" name=""/>
        <p:cNvGrpSpPr/>
        <p:nvPr/>
      </p:nvGrpSpPr>
      <p:grpSpPr>
        <a:xfrm>
          <a:off x="0" y="0"/>
          <a:ext cx="0" cy="0"/>
          <a:chOff x="0" y="0"/>
          <a:chExt cx="0" cy="0"/>
        </a:xfrm>
      </p:grpSpPr>
      <p:sp>
        <p:nvSpPr>
          <p:cNvPr id="25" name="Rectangle 24">
            <a:extLst>
              <a:ext uri="{FF2B5EF4-FFF2-40B4-BE49-F238E27FC236}">
                <a16:creationId xmlns:a16="http://schemas.microsoft.com/office/drawing/2014/main" id="{FEF085B8-A2C0-4A6F-B663-CCC56F3CD3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324"/>
            <a:ext cx="9144000" cy="6861324"/>
          </a:xfrm>
          <a:prstGeom prst="rect">
            <a:avLst/>
          </a:prstGeom>
          <a:solidFill>
            <a:srgbClr val="40404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Freeform 13">
            <a:extLst>
              <a:ext uri="{FF2B5EF4-FFF2-40B4-BE49-F238E27FC236}">
                <a16:creationId xmlns:a16="http://schemas.microsoft.com/office/drawing/2014/main" id="{2658F6D6-96E0-421A-96D6-3DF40400854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8840065" cy="6858000"/>
          </a:xfrm>
          <a:custGeom>
            <a:avLst/>
            <a:gdLst>
              <a:gd name="connsiteX0" fmla="*/ 0 w 11786754"/>
              <a:gd name="connsiteY0" fmla="*/ 0 h 6858000"/>
              <a:gd name="connsiteX1" fmla="*/ 8610600 w 11786754"/>
              <a:gd name="connsiteY1" fmla="*/ 0 h 6858000"/>
              <a:gd name="connsiteX2" fmla="*/ 11786754 w 11786754"/>
              <a:gd name="connsiteY2" fmla="*/ 6858000 h 6858000"/>
              <a:gd name="connsiteX3" fmla="*/ 0 w 11786754"/>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1786754" h="6858000">
                <a:moveTo>
                  <a:pt x="0" y="0"/>
                </a:moveTo>
                <a:lnTo>
                  <a:pt x="8610600" y="0"/>
                </a:lnTo>
                <a:lnTo>
                  <a:pt x="11786754" y="6858000"/>
                </a:lnTo>
                <a:lnTo>
                  <a:pt x="0" y="6858000"/>
                </a:lnTo>
                <a:close/>
              </a:path>
            </a:pathLst>
          </a:custGeom>
          <a:solidFill>
            <a:schemeClr val="bg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Freeform 11">
            <a:extLst>
              <a:ext uri="{FF2B5EF4-FFF2-40B4-BE49-F238E27FC236}">
                <a16:creationId xmlns:a16="http://schemas.microsoft.com/office/drawing/2014/main" id="{3CF62545-93A0-4FD5-9B48-48DCA794CBA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2686050" cy="6858000"/>
          </a:xfrm>
          <a:custGeom>
            <a:avLst/>
            <a:gdLst>
              <a:gd name="connsiteX0" fmla="*/ 0 w 3581400"/>
              <a:gd name="connsiteY0" fmla="*/ 0 h 6858000"/>
              <a:gd name="connsiteX1" fmla="*/ 405246 w 3581400"/>
              <a:gd name="connsiteY1" fmla="*/ 0 h 6858000"/>
              <a:gd name="connsiteX2" fmla="*/ 3581400 w 3581400"/>
              <a:gd name="connsiteY2" fmla="*/ 6858000 h 6858000"/>
              <a:gd name="connsiteX3" fmla="*/ 0 w 35814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3581400" h="6858000">
                <a:moveTo>
                  <a:pt x="0" y="0"/>
                </a:moveTo>
                <a:lnTo>
                  <a:pt x="405246" y="0"/>
                </a:lnTo>
                <a:lnTo>
                  <a:pt x="3581400" y="6858000"/>
                </a:lnTo>
                <a:lnTo>
                  <a:pt x="0" y="6858000"/>
                </a:lnTo>
                <a:close/>
              </a:path>
            </a:pathLst>
          </a:custGeom>
          <a:solidFill>
            <a:schemeClr val="bg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p:cNvSpPr>
            <a:spLocks noGrp="1"/>
          </p:cNvSpPr>
          <p:nvPr>
            <p:ph type="title"/>
          </p:nvPr>
        </p:nvSpPr>
        <p:spPr>
          <a:xfrm>
            <a:off x="628650" y="365125"/>
            <a:ext cx="7886700" cy="1325563"/>
          </a:xfrm>
        </p:spPr>
        <p:txBody>
          <a:bodyPr vert="horz" lIns="91440" tIns="45720" rIns="91440" bIns="45720" rtlCol="0" anchor="ctr">
            <a:normAutofit/>
          </a:bodyPr>
          <a:lstStyle/>
          <a:p>
            <a:pPr algn="l" defTabSz="914400">
              <a:lnSpc>
                <a:spcPct val="90000"/>
              </a:lnSpc>
            </a:pPr>
            <a:r>
              <a:rPr lang="en-US" kern="1200">
                <a:solidFill>
                  <a:schemeClr val="tx1"/>
                </a:solidFill>
                <a:latin typeface="+mj-lt"/>
                <a:ea typeface="+mj-ea"/>
                <a:cs typeface="+mj-cs"/>
              </a:rPr>
              <a:t>Core Gameplay Loop</a:t>
            </a:r>
          </a:p>
        </p:txBody>
      </p:sp>
      <p:sp>
        <p:nvSpPr>
          <p:cNvPr id="3" name="Content Placeholder 2"/>
          <p:cNvSpPr>
            <a:spLocks noGrp="1"/>
          </p:cNvSpPr>
          <p:nvPr>
            <p:ph idx="1"/>
          </p:nvPr>
        </p:nvSpPr>
        <p:spPr>
          <a:xfrm>
            <a:off x="628650" y="2010833"/>
            <a:ext cx="3822700" cy="4166130"/>
          </a:xfrm>
        </p:spPr>
        <p:txBody>
          <a:bodyPr vert="horz" lIns="91440" tIns="45720" rIns="91440" bIns="45720" rtlCol="0">
            <a:normAutofit/>
          </a:bodyPr>
          <a:lstStyle/>
          <a:p>
            <a:pPr marL="0" indent="-228600" defTabSz="914400">
              <a:lnSpc>
                <a:spcPct val="90000"/>
              </a:lnSpc>
              <a:buFont typeface="Arial" panose="020B0604020202020204" pitchFamily="34" charset="0"/>
              <a:buChar char="•"/>
            </a:pPr>
            <a:r>
              <a:rPr lang="en-US" sz="1700" dirty="0"/>
              <a:t>The gameplay loop is based on repetition. The player starts a level, attempts to complete it, fails and retries. Over time the player learns the layout and improves. This loop creates frustration and satisfaction for players.</a:t>
            </a:r>
          </a:p>
        </p:txBody>
      </p:sp>
      <p:sp>
        <p:nvSpPr>
          <p:cNvPr id="20" name="TextBox 19">
            <a:extLst>
              <a:ext uri="{FF2B5EF4-FFF2-40B4-BE49-F238E27FC236}">
                <a16:creationId xmlns:a16="http://schemas.microsoft.com/office/drawing/2014/main" id="{4A93CD7D-6277-0FC9-B50C-CF63C15E277F}"/>
              </a:ext>
            </a:extLst>
          </p:cNvPr>
          <p:cNvSpPr txBox="1"/>
          <p:nvPr/>
        </p:nvSpPr>
        <p:spPr>
          <a:xfrm>
            <a:off x="4692649" y="2010833"/>
            <a:ext cx="3822700" cy="4166130"/>
          </a:xfrm>
          <a:prstGeom prst="rect">
            <a:avLst/>
          </a:prstGeom>
        </p:spPr>
        <p:txBody>
          <a:bodyPr vert="horz" lIns="91440" tIns="45720" rIns="91440" bIns="45720" rtlCol="0">
            <a:normAutofit/>
          </a:bodyPr>
          <a:lstStyle/>
          <a:p>
            <a:pPr indent="-228600" defTabSz="914400">
              <a:lnSpc>
                <a:spcPct val="90000"/>
              </a:lnSpc>
              <a:spcAft>
                <a:spcPts val="600"/>
              </a:spcAft>
              <a:buFont typeface="Arial" panose="020B0604020202020204" pitchFamily="34" charset="0"/>
              <a:buChar char="•"/>
            </a:pPr>
            <a:r>
              <a:rPr lang="en-US" sz="1700"/>
              <a:t>This gameplay loop is extremely simple and effective which allowed for a full game experience for players</a:t>
            </a:r>
            <a:br>
              <a:rPr lang="en-US" sz="1700"/>
            </a:br>
            <a:r>
              <a:rPr lang="en-US" sz="1700"/>
              <a:t>to be made with the limited time given</a:t>
            </a:r>
          </a:p>
        </p:txBody>
      </p:sp>
      <p:sp>
        <p:nvSpPr>
          <p:cNvPr id="21" name="Rectangle 20">
            <a:extLst>
              <a:ext uri="{FF2B5EF4-FFF2-40B4-BE49-F238E27FC236}">
                <a16:creationId xmlns:a16="http://schemas.microsoft.com/office/drawing/2014/main" id="{A8A48788-B4EB-9386-BD9E-F8E9165DB734}"/>
              </a:ext>
            </a:extLst>
          </p:cNvPr>
          <p:cNvSpPr/>
          <p:nvPr/>
        </p:nvSpPr>
        <p:spPr>
          <a:xfrm>
            <a:off x="654889" y="4570262"/>
            <a:ext cx="1371600" cy="640080"/>
          </a:xfrm>
          <a:prstGeom prst="rect">
            <a:avLst/>
          </a:prstGeom>
          <a:solidFill>
            <a:schemeClr val="tx1">
              <a:lumMod val="50000"/>
            </a:schemeClr>
          </a:solidFill>
          <a:ln>
            <a:solidFill>
              <a:schemeClr val="tx1">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r>
              <a:t>Start Level</a:t>
            </a:r>
          </a:p>
        </p:txBody>
      </p:sp>
      <p:sp>
        <p:nvSpPr>
          <p:cNvPr id="22" name="Rectangle 21">
            <a:extLst>
              <a:ext uri="{FF2B5EF4-FFF2-40B4-BE49-F238E27FC236}">
                <a16:creationId xmlns:a16="http://schemas.microsoft.com/office/drawing/2014/main" id="{5E93F884-A4F7-F00D-B9D5-9C58ABDFD12C}"/>
              </a:ext>
            </a:extLst>
          </p:cNvPr>
          <p:cNvSpPr/>
          <p:nvPr/>
        </p:nvSpPr>
        <p:spPr>
          <a:xfrm>
            <a:off x="2300809" y="4570262"/>
            <a:ext cx="1371600" cy="640080"/>
          </a:xfrm>
          <a:prstGeom prst="rect">
            <a:avLst/>
          </a:prstGeom>
          <a:solidFill>
            <a:schemeClr val="tx1">
              <a:lumMod val="50000"/>
            </a:schemeClr>
          </a:solidFill>
          <a:ln>
            <a:solidFill>
              <a:schemeClr val="tx1">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r>
              <a:t>Attempt</a:t>
            </a:r>
          </a:p>
        </p:txBody>
      </p:sp>
      <p:sp>
        <p:nvSpPr>
          <p:cNvPr id="23" name="Rectangle 22">
            <a:extLst>
              <a:ext uri="{FF2B5EF4-FFF2-40B4-BE49-F238E27FC236}">
                <a16:creationId xmlns:a16="http://schemas.microsoft.com/office/drawing/2014/main" id="{F9D6D333-5425-73C3-951D-842E38840E78}"/>
              </a:ext>
            </a:extLst>
          </p:cNvPr>
          <p:cNvSpPr/>
          <p:nvPr/>
        </p:nvSpPr>
        <p:spPr>
          <a:xfrm>
            <a:off x="3946728" y="4570262"/>
            <a:ext cx="1371600" cy="640080"/>
          </a:xfrm>
          <a:prstGeom prst="rect">
            <a:avLst/>
          </a:prstGeom>
          <a:solidFill>
            <a:schemeClr val="tx1">
              <a:lumMod val="50000"/>
            </a:schemeClr>
          </a:solidFill>
          <a:ln>
            <a:solidFill>
              <a:schemeClr val="tx1">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r>
              <a:rPr dirty="0"/>
              <a:t>Fail</a:t>
            </a:r>
          </a:p>
        </p:txBody>
      </p:sp>
      <p:sp>
        <p:nvSpPr>
          <p:cNvPr id="24" name="Rectangle 23">
            <a:extLst>
              <a:ext uri="{FF2B5EF4-FFF2-40B4-BE49-F238E27FC236}">
                <a16:creationId xmlns:a16="http://schemas.microsoft.com/office/drawing/2014/main" id="{9E6A6940-2B5C-5916-D1DC-A3D6A0B203CD}"/>
              </a:ext>
            </a:extLst>
          </p:cNvPr>
          <p:cNvSpPr/>
          <p:nvPr/>
        </p:nvSpPr>
        <p:spPr>
          <a:xfrm>
            <a:off x="5592649" y="4570262"/>
            <a:ext cx="1371600" cy="640080"/>
          </a:xfrm>
          <a:prstGeom prst="rect">
            <a:avLst/>
          </a:prstGeom>
          <a:solidFill>
            <a:schemeClr val="tx1">
              <a:lumMod val="50000"/>
            </a:schemeClr>
          </a:solidFill>
          <a:ln>
            <a:solidFill>
              <a:schemeClr val="tx1">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r>
              <a:t>Retry</a:t>
            </a:r>
          </a:p>
        </p:txBody>
      </p:sp>
      <p:sp>
        <p:nvSpPr>
          <p:cNvPr id="26" name="Rectangle 25">
            <a:extLst>
              <a:ext uri="{FF2B5EF4-FFF2-40B4-BE49-F238E27FC236}">
                <a16:creationId xmlns:a16="http://schemas.microsoft.com/office/drawing/2014/main" id="{118CD332-349B-802B-0F71-98A639BF6278}"/>
              </a:ext>
            </a:extLst>
          </p:cNvPr>
          <p:cNvSpPr/>
          <p:nvPr/>
        </p:nvSpPr>
        <p:spPr>
          <a:xfrm>
            <a:off x="7238569" y="4570262"/>
            <a:ext cx="1371600" cy="640080"/>
          </a:xfrm>
          <a:prstGeom prst="rect">
            <a:avLst/>
          </a:prstGeom>
          <a:solidFill>
            <a:schemeClr val="tx1">
              <a:lumMod val="50000"/>
            </a:schemeClr>
          </a:solidFill>
          <a:ln>
            <a:solidFill>
              <a:schemeClr val="tx1">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r>
              <a:t>Complete</a:t>
            </a:r>
          </a:p>
        </p:txBody>
      </p:sp>
      <p:cxnSp>
        <p:nvCxnSpPr>
          <p:cNvPr id="28" name="Straight Arrow Connector 27">
            <a:extLst>
              <a:ext uri="{FF2B5EF4-FFF2-40B4-BE49-F238E27FC236}">
                <a16:creationId xmlns:a16="http://schemas.microsoft.com/office/drawing/2014/main" id="{8498AF0E-1584-1C86-68E6-42081F049284}"/>
              </a:ext>
            </a:extLst>
          </p:cNvPr>
          <p:cNvCxnSpPr>
            <a:stCxn id="21" idx="3"/>
            <a:endCxn id="22" idx="1"/>
          </p:cNvCxnSpPr>
          <p:nvPr/>
        </p:nvCxnSpPr>
        <p:spPr>
          <a:xfrm>
            <a:off x="2026489" y="4890302"/>
            <a:ext cx="274320" cy="0"/>
          </a:xfrm>
          <a:prstGeom prst="straightConnector1">
            <a:avLst/>
          </a:prstGeom>
          <a:ln>
            <a:solidFill>
              <a:schemeClr val="tx1">
                <a:lumMod val="5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30" name="Straight Arrow Connector 29">
            <a:extLst>
              <a:ext uri="{FF2B5EF4-FFF2-40B4-BE49-F238E27FC236}">
                <a16:creationId xmlns:a16="http://schemas.microsoft.com/office/drawing/2014/main" id="{527A3E39-52EF-56F5-2E52-7515014A353E}"/>
              </a:ext>
            </a:extLst>
          </p:cNvPr>
          <p:cNvCxnSpPr>
            <a:stCxn id="22" idx="3"/>
            <a:endCxn id="23" idx="1"/>
          </p:cNvCxnSpPr>
          <p:nvPr/>
        </p:nvCxnSpPr>
        <p:spPr>
          <a:xfrm>
            <a:off x="3672409" y="4890302"/>
            <a:ext cx="274319" cy="0"/>
          </a:xfrm>
          <a:prstGeom prst="straightConnector1">
            <a:avLst/>
          </a:prstGeom>
          <a:ln>
            <a:solidFill>
              <a:schemeClr val="tx1">
                <a:lumMod val="5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31" name="Straight Arrow Connector 30">
            <a:extLst>
              <a:ext uri="{FF2B5EF4-FFF2-40B4-BE49-F238E27FC236}">
                <a16:creationId xmlns:a16="http://schemas.microsoft.com/office/drawing/2014/main" id="{52D9692A-A6B1-E621-05EF-0525BB06B748}"/>
              </a:ext>
            </a:extLst>
          </p:cNvPr>
          <p:cNvCxnSpPr>
            <a:stCxn id="23" idx="3"/>
            <a:endCxn id="24" idx="1"/>
          </p:cNvCxnSpPr>
          <p:nvPr/>
        </p:nvCxnSpPr>
        <p:spPr>
          <a:xfrm>
            <a:off x="5318328" y="4890302"/>
            <a:ext cx="274321" cy="0"/>
          </a:xfrm>
          <a:prstGeom prst="straightConnector1">
            <a:avLst/>
          </a:prstGeom>
          <a:ln>
            <a:solidFill>
              <a:schemeClr val="tx1">
                <a:lumMod val="5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32" name="Straight Arrow Connector 31">
            <a:extLst>
              <a:ext uri="{FF2B5EF4-FFF2-40B4-BE49-F238E27FC236}">
                <a16:creationId xmlns:a16="http://schemas.microsoft.com/office/drawing/2014/main" id="{8EB623E3-8192-2011-C882-B344EE22D68D}"/>
              </a:ext>
            </a:extLst>
          </p:cNvPr>
          <p:cNvCxnSpPr>
            <a:stCxn id="24" idx="3"/>
            <a:endCxn id="26" idx="1"/>
          </p:cNvCxnSpPr>
          <p:nvPr/>
        </p:nvCxnSpPr>
        <p:spPr>
          <a:xfrm>
            <a:off x="6964249" y="4890302"/>
            <a:ext cx="274320" cy="0"/>
          </a:xfrm>
          <a:prstGeom prst="straightConnector1">
            <a:avLst/>
          </a:prstGeom>
          <a:ln>
            <a:solidFill>
              <a:schemeClr val="tx1">
                <a:lumMod val="5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33" name="Connector: Elbow 32">
            <a:extLst>
              <a:ext uri="{FF2B5EF4-FFF2-40B4-BE49-F238E27FC236}">
                <a16:creationId xmlns:a16="http://schemas.microsoft.com/office/drawing/2014/main" id="{066C8365-8A12-CE43-E680-A1BE524B28ED}"/>
              </a:ext>
            </a:extLst>
          </p:cNvPr>
          <p:cNvCxnSpPr>
            <a:stCxn id="26" idx="3"/>
            <a:endCxn id="21" idx="1"/>
          </p:cNvCxnSpPr>
          <p:nvPr/>
        </p:nvCxnSpPr>
        <p:spPr>
          <a:xfrm flipH="1">
            <a:off x="654889" y="4890302"/>
            <a:ext cx="7955280" cy="12700"/>
          </a:xfrm>
          <a:prstGeom prst="bentConnector5">
            <a:avLst>
              <a:gd name="adj1" fmla="val -2874"/>
              <a:gd name="adj2" fmla="val 4320000"/>
              <a:gd name="adj3" fmla="val 102874"/>
            </a:avLst>
          </a:prstGeom>
          <a:ln>
            <a:solidFill>
              <a:schemeClr val="tx1">
                <a:lumMod val="50000"/>
              </a:schemeClr>
            </a:solidFill>
            <a:tailEnd type="triangle"/>
          </a:ln>
        </p:spPr>
        <p:style>
          <a:lnRef idx="2">
            <a:schemeClr val="accent1"/>
          </a:lnRef>
          <a:fillRef idx="0">
            <a:schemeClr val="accent1"/>
          </a:fillRef>
          <a:effectRef idx="1">
            <a:schemeClr val="accent1"/>
          </a:effectRef>
          <a:fontRef idx="minor">
            <a:schemeClr val="tx1"/>
          </a:fontRef>
        </p:style>
      </p:cxnSp>
    </p:spTree>
  </p:cSld>
  <p:clrMapOvr>
    <a:overrideClrMapping bg1="dk1" tx1="lt1" bg2="dk2" tx2="lt2" accent1="accent1" accent2="accent2" accent3="accent3" accent4="accent4" accent5="accent5" accent6="accent6" hlink="hlink" folHlink="folHlink"/>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0DFC902-7D23-471A-B557-B6B6917D7A0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 y="-5705"/>
            <a:ext cx="9143993" cy="1694346"/>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67638" y="637762"/>
            <a:ext cx="7416372" cy="900131"/>
          </a:xfrm>
        </p:spPr>
        <p:txBody>
          <a:bodyPr anchor="t">
            <a:normAutofit/>
          </a:bodyPr>
          <a:lstStyle/>
          <a:p>
            <a:pPr algn="l"/>
            <a:r>
              <a:rPr lang="en-GB" sz="3500">
                <a:solidFill>
                  <a:schemeClr val="bg1"/>
                </a:solidFill>
              </a:rPr>
              <a:t>Level Design</a:t>
            </a:r>
          </a:p>
        </p:txBody>
      </p:sp>
      <p:sp>
        <p:nvSpPr>
          <p:cNvPr id="6" name="Rectangle 5">
            <a:extLst>
              <a:ext uri="{FF2B5EF4-FFF2-40B4-BE49-F238E27FC236}">
                <a16:creationId xmlns:a16="http://schemas.microsoft.com/office/drawing/2014/main" id="{A55D5633-D557-4DCA-982C-FF36EB7A1C0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688641"/>
            <a:ext cx="9143992" cy="516935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450D3AD2-FA80-415F-A9CE-54D884561C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67638" y="2010758"/>
            <a:ext cx="342892" cy="4571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p:cNvSpPr>
            <a:spLocks noGrp="1"/>
          </p:cNvSpPr>
          <p:nvPr>
            <p:ph idx="1"/>
          </p:nvPr>
        </p:nvSpPr>
        <p:spPr>
          <a:xfrm>
            <a:off x="737110" y="2010758"/>
            <a:ext cx="7410669" cy="3959619"/>
          </a:xfrm>
        </p:spPr>
        <p:txBody>
          <a:bodyPr>
            <a:normAutofit/>
          </a:bodyPr>
          <a:lstStyle/>
          <a:p>
            <a:pPr marL="0" indent="0">
              <a:buNone/>
            </a:pPr>
            <a:r>
              <a:rPr lang="en-US" sz="2100" dirty="0"/>
              <a:t>Levels are designed with increasing difficulty. Early sections teach basic trap mechanics while later sections introduce more complex traps. Spacing and timing was planned to make the scaling hard at first but then extremely hard on later levels. Visual clarity will also be prioritized so players can clearly see obstacles, this will be done by using white boxes for every level and making the stage size the same between each level. Tutorial markers are used at the start to explain controls.</a:t>
            </a:r>
          </a:p>
        </p:txBody>
      </p:sp>
      <p:sp>
        <p:nvSpPr>
          <p:cNvPr id="44" name="Rectangle 43">
            <a:extLst>
              <a:ext uri="{FF2B5EF4-FFF2-40B4-BE49-F238E27FC236}">
                <a16:creationId xmlns:a16="http://schemas.microsoft.com/office/drawing/2014/main" id="{EB6693B7-C300-3543-4CF5-543828BBBAF8}"/>
              </a:ext>
            </a:extLst>
          </p:cNvPr>
          <p:cNvSpPr/>
          <p:nvPr/>
        </p:nvSpPr>
        <p:spPr>
          <a:xfrm>
            <a:off x="3111852" y="4457699"/>
            <a:ext cx="3545633" cy="2225351"/>
          </a:xfrm>
          <a:prstGeom prst="rect">
            <a:avLst/>
          </a:prstGeom>
          <a:solidFill>
            <a:schemeClr val="bg1">
              <a:lumMod val="50000"/>
            </a:schemeClr>
          </a:solidFill>
          <a:ln>
            <a:solidFill>
              <a:schemeClr val="bg1">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GB"/>
          </a:p>
        </p:txBody>
      </p:sp>
      <p:sp>
        <p:nvSpPr>
          <p:cNvPr id="45" name="Rectangle 44">
            <a:extLst>
              <a:ext uri="{FF2B5EF4-FFF2-40B4-BE49-F238E27FC236}">
                <a16:creationId xmlns:a16="http://schemas.microsoft.com/office/drawing/2014/main" id="{737F3162-A83B-F7F6-5C57-2987C6B2C51C}"/>
              </a:ext>
            </a:extLst>
          </p:cNvPr>
          <p:cNvSpPr/>
          <p:nvPr/>
        </p:nvSpPr>
        <p:spPr>
          <a:xfrm>
            <a:off x="3331121" y="4682251"/>
            <a:ext cx="3125755" cy="1753538"/>
          </a:xfrm>
          <a:prstGeom prst="rect">
            <a:avLst/>
          </a:prstGeom>
          <a:solidFill>
            <a:schemeClr val="bg1"/>
          </a:solidFill>
          <a:ln>
            <a:solidFill>
              <a:schemeClr val="bg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GB" dirty="0"/>
          </a:p>
        </p:txBody>
      </p:sp>
      <p:sp>
        <p:nvSpPr>
          <p:cNvPr id="46" name="Rectangle 45">
            <a:extLst>
              <a:ext uri="{FF2B5EF4-FFF2-40B4-BE49-F238E27FC236}">
                <a16:creationId xmlns:a16="http://schemas.microsoft.com/office/drawing/2014/main" id="{A97C6C5D-5461-9316-BD8C-1D41310EE771}"/>
              </a:ext>
            </a:extLst>
          </p:cNvPr>
          <p:cNvSpPr/>
          <p:nvPr/>
        </p:nvSpPr>
        <p:spPr>
          <a:xfrm>
            <a:off x="3492852" y="6185418"/>
            <a:ext cx="272143" cy="25037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GB"/>
          </a:p>
        </p:txBody>
      </p:sp>
      <p:sp>
        <p:nvSpPr>
          <p:cNvPr id="47" name="Rectangle 46">
            <a:extLst>
              <a:ext uri="{FF2B5EF4-FFF2-40B4-BE49-F238E27FC236}">
                <a16:creationId xmlns:a16="http://schemas.microsoft.com/office/drawing/2014/main" id="{9485C001-4E0D-DAD6-7203-E62A46E65B80}"/>
              </a:ext>
            </a:extLst>
          </p:cNvPr>
          <p:cNvSpPr/>
          <p:nvPr/>
        </p:nvSpPr>
        <p:spPr>
          <a:xfrm>
            <a:off x="4488541" y="6319155"/>
            <a:ext cx="943947" cy="116633"/>
          </a:xfrm>
          <a:prstGeom prst="rect">
            <a:avLst/>
          </a:prstGeom>
          <a:solidFill>
            <a:srgbClr val="FF0000"/>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GB"/>
          </a:p>
        </p:txBody>
      </p:sp>
      <p:sp>
        <p:nvSpPr>
          <p:cNvPr id="48" name="Rectangle 47">
            <a:extLst>
              <a:ext uri="{FF2B5EF4-FFF2-40B4-BE49-F238E27FC236}">
                <a16:creationId xmlns:a16="http://schemas.microsoft.com/office/drawing/2014/main" id="{40A8FB96-3A0C-A607-BD74-E3EF1FDF3F2D}"/>
              </a:ext>
            </a:extLst>
          </p:cNvPr>
          <p:cNvSpPr/>
          <p:nvPr/>
        </p:nvSpPr>
        <p:spPr>
          <a:xfrm>
            <a:off x="6032334" y="5698671"/>
            <a:ext cx="384111" cy="728565"/>
          </a:xfrm>
          <a:prstGeom prst="rect">
            <a:avLst/>
          </a:prstGeom>
          <a:solidFill>
            <a:srgbClr val="00B050"/>
          </a:solidFill>
          <a:ln>
            <a:solidFill>
              <a:srgbClr val="00B05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GB"/>
          </a:p>
        </p:txBody>
      </p:sp>
      <p:cxnSp>
        <p:nvCxnSpPr>
          <p:cNvPr id="49" name="Straight Arrow Connector 48">
            <a:extLst>
              <a:ext uri="{FF2B5EF4-FFF2-40B4-BE49-F238E27FC236}">
                <a16:creationId xmlns:a16="http://schemas.microsoft.com/office/drawing/2014/main" id="{BB846785-AA5F-3D93-2E7E-D0DFB9291F49}"/>
              </a:ext>
            </a:extLst>
          </p:cNvPr>
          <p:cNvCxnSpPr>
            <a:cxnSpLocks/>
          </p:cNvCxnSpPr>
          <p:nvPr/>
        </p:nvCxnSpPr>
        <p:spPr>
          <a:xfrm flipH="1">
            <a:off x="6260934" y="5498062"/>
            <a:ext cx="625151" cy="452535"/>
          </a:xfrm>
          <a:prstGeom prst="straightConnector1">
            <a:avLst/>
          </a:prstGeom>
          <a:ln>
            <a:solidFill>
              <a:schemeClr val="bg1">
                <a:lumMod val="5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50" name="TextBox 49">
            <a:extLst>
              <a:ext uri="{FF2B5EF4-FFF2-40B4-BE49-F238E27FC236}">
                <a16:creationId xmlns:a16="http://schemas.microsoft.com/office/drawing/2014/main" id="{76FEB7BB-6477-DDD0-19C7-6AEC0B2CA035}"/>
              </a:ext>
            </a:extLst>
          </p:cNvPr>
          <p:cNvSpPr txBox="1"/>
          <p:nvPr/>
        </p:nvSpPr>
        <p:spPr>
          <a:xfrm>
            <a:off x="6905821" y="5270829"/>
            <a:ext cx="526106" cy="369332"/>
          </a:xfrm>
          <a:prstGeom prst="rect">
            <a:avLst/>
          </a:prstGeom>
          <a:noFill/>
        </p:spPr>
        <p:txBody>
          <a:bodyPr wrap="square" rtlCol="0">
            <a:spAutoFit/>
          </a:bodyPr>
          <a:lstStyle/>
          <a:p>
            <a:r>
              <a:rPr lang="en-US" dirty="0"/>
              <a:t>Exit</a:t>
            </a:r>
            <a:endParaRPr lang="en-GB" dirty="0"/>
          </a:p>
        </p:txBody>
      </p:sp>
      <p:cxnSp>
        <p:nvCxnSpPr>
          <p:cNvPr id="51" name="Straight Arrow Connector 50">
            <a:extLst>
              <a:ext uri="{FF2B5EF4-FFF2-40B4-BE49-F238E27FC236}">
                <a16:creationId xmlns:a16="http://schemas.microsoft.com/office/drawing/2014/main" id="{0D6BA01D-F45F-2554-4CF3-231516E6C90F}"/>
              </a:ext>
            </a:extLst>
          </p:cNvPr>
          <p:cNvCxnSpPr>
            <a:cxnSpLocks/>
          </p:cNvCxnSpPr>
          <p:nvPr/>
        </p:nvCxnSpPr>
        <p:spPr>
          <a:xfrm flipH="1">
            <a:off x="5033958" y="5698671"/>
            <a:ext cx="97971" cy="678800"/>
          </a:xfrm>
          <a:prstGeom prst="straightConnector1">
            <a:avLst/>
          </a:prstGeom>
          <a:ln>
            <a:solidFill>
              <a:schemeClr val="bg1">
                <a:lumMod val="5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52" name="TextBox 51">
            <a:extLst>
              <a:ext uri="{FF2B5EF4-FFF2-40B4-BE49-F238E27FC236}">
                <a16:creationId xmlns:a16="http://schemas.microsoft.com/office/drawing/2014/main" id="{7DF517E0-994A-F1AE-A02F-E04F318285E5}"/>
              </a:ext>
            </a:extLst>
          </p:cNvPr>
          <p:cNvSpPr txBox="1"/>
          <p:nvPr/>
        </p:nvSpPr>
        <p:spPr>
          <a:xfrm>
            <a:off x="4893998" y="5313396"/>
            <a:ext cx="590418" cy="369332"/>
          </a:xfrm>
          <a:prstGeom prst="rect">
            <a:avLst/>
          </a:prstGeom>
          <a:noFill/>
        </p:spPr>
        <p:txBody>
          <a:bodyPr wrap="square" rtlCol="0">
            <a:spAutoFit/>
          </a:bodyPr>
          <a:lstStyle/>
          <a:p>
            <a:r>
              <a:rPr lang="en-US" dirty="0"/>
              <a:t>Trap</a:t>
            </a:r>
            <a:endParaRPr lang="en-GB" dirty="0"/>
          </a:p>
        </p:txBody>
      </p:sp>
      <p:cxnSp>
        <p:nvCxnSpPr>
          <p:cNvPr id="53" name="Straight Arrow Connector 52">
            <a:extLst>
              <a:ext uri="{FF2B5EF4-FFF2-40B4-BE49-F238E27FC236}">
                <a16:creationId xmlns:a16="http://schemas.microsoft.com/office/drawing/2014/main" id="{7A566826-2EBC-8B59-6C41-16ED47C813AE}"/>
              </a:ext>
            </a:extLst>
          </p:cNvPr>
          <p:cNvCxnSpPr>
            <a:endCxn id="46" idx="0"/>
          </p:cNvCxnSpPr>
          <p:nvPr/>
        </p:nvCxnSpPr>
        <p:spPr>
          <a:xfrm flipH="1">
            <a:off x="3628924" y="5559020"/>
            <a:ext cx="238708" cy="626398"/>
          </a:xfrm>
          <a:prstGeom prst="straightConnector1">
            <a:avLst/>
          </a:prstGeom>
          <a:ln>
            <a:solidFill>
              <a:schemeClr val="bg1">
                <a:lumMod val="5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54" name="TextBox 53">
            <a:extLst>
              <a:ext uri="{FF2B5EF4-FFF2-40B4-BE49-F238E27FC236}">
                <a16:creationId xmlns:a16="http://schemas.microsoft.com/office/drawing/2014/main" id="{A7E1759E-988D-1203-2474-F324FA43FE89}"/>
              </a:ext>
            </a:extLst>
          </p:cNvPr>
          <p:cNvSpPr txBox="1"/>
          <p:nvPr/>
        </p:nvSpPr>
        <p:spPr>
          <a:xfrm>
            <a:off x="3541818" y="5249169"/>
            <a:ext cx="759439" cy="369332"/>
          </a:xfrm>
          <a:prstGeom prst="rect">
            <a:avLst/>
          </a:prstGeom>
          <a:noFill/>
        </p:spPr>
        <p:txBody>
          <a:bodyPr wrap="square" rtlCol="0">
            <a:spAutoFit/>
          </a:bodyPr>
          <a:lstStyle/>
          <a:p>
            <a:r>
              <a:rPr lang="en-US" dirty="0"/>
              <a:t>Player</a:t>
            </a:r>
            <a:endParaRPr lang="en-GB" dirty="0"/>
          </a:p>
        </p:txBody>
      </p:sp>
      <p:cxnSp>
        <p:nvCxnSpPr>
          <p:cNvPr id="55" name="Straight Arrow Connector 54">
            <a:extLst>
              <a:ext uri="{FF2B5EF4-FFF2-40B4-BE49-F238E27FC236}">
                <a16:creationId xmlns:a16="http://schemas.microsoft.com/office/drawing/2014/main" id="{74DD9641-78C4-3652-5F6C-18816E5923A0}"/>
              </a:ext>
            </a:extLst>
          </p:cNvPr>
          <p:cNvCxnSpPr>
            <a:cxnSpLocks/>
          </p:cNvCxnSpPr>
          <p:nvPr/>
        </p:nvCxnSpPr>
        <p:spPr>
          <a:xfrm flipH="1">
            <a:off x="6573509" y="4930965"/>
            <a:ext cx="1030591" cy="91236"/>
          </a:xfrm>
          <a:prstGeom prst="straightConnector1">
            <a:avLst/>
          </a:prstGeom>
          <a:ln>
            <a:solidFill>
              <a:schemeClr val="bg1">
                <a:lumMod val="5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56" name="TextBox 55">
            <a:extLst>
              <a:ext uri="{FF2B5EF4-FFF2-40B4-BE49-F238E27FC236}">
                <a16:creationId xmlns:a16="http://schemas.microsoft.com/office/drawing/2014/main" id="{7304EF17-646A-56B2-7C86-A56007D87CA2}"/>
              </a:ext>
            </a:extLst>
          </p:cNvPr>
          <p:cNvSpPr txBox="1"/>
          <p:nvPr/>
        </p:nvSpPr>
        <p:spPr>
          <a:xfrm>
            <a:off x="6697342" y="4608848"/>
            <a:ext cx="2178225" cy="369332"/>
          </a:xfrm>
          <a:prstGeom prst="rect">
            <a:avLst/>
          </a:prstGeom>
          <a:noFill/>
        </p:spPr>
        <p:txBody>
          <a:bodyPr wrap="square" rtlCol="0">
            <a:spAutoFit/>
          </a:bodyPr>
          <a:lstStyle/>
          <a:p>
            <a:r>
              <a:rPr lang="en-US" dirty="0"/>
              <a:t>Universal level layout</a:t>
            </a:r>
            <a:endParaRPr lang="en-GB" dirty="0"/>
          </a:p>
        </p:txBody>
      </p:sp>
      <p:sp>
        <p:nvSpPr>
          <p:cNvPr id="57" name="Rectangle 56">
            <a:extLst>
              <a:ext uri="{FF2B5EF4-FFF2-40B4-BE49-F238E27FC236}">
                <a16:creationId xmlns:a16="http://schemas.microsoft.com/office/drawing/2014/main" id="{C689BC90-05F9-4F51-7658-EFA486B6A469}"/>
              </a:ext>
            </a:extLst>
          </p:cNvPr>
          <p:cNvSpPr/>
          <p:nvPr/>
        </p:nvSpPr>
        <p:spPr>
          <a:xfrm>
            <a:off x="4192296" y="6038071"/>
            <a:ext cx="575741" cy="152400"/>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GB"/>
          </a:p>
        </p:txBody>
      </p:sp>
      <p:cxnSp>
        <p:nvCxnSpPr>
          <p:cNvPr id="58" name="Straight Arrow Connector 57">
            <a:extLst>
              <a:ext uri="{FF2B5EF4-FFF2-40B4-BE49-F238E27FC236}">
                <a16:creationId xmlns:a16="http://schemas.microsoft.com/office/drawing/2014/main" id="{CD9BCFE8-503B-4326-7DAF-948F7F272BBC}"/>
              </a:ext>
            </a:extLst>
          </p:cNvPr>
          <p:cNvCxnSpPr>
            <a:cxnSpLocks/>
            <a:endCxn id="57" idx="0"/>
          </p:cNvCxnSpPr>
          <p:nvPr/>
        </p:nvCxnSpPr>
        <p:spPr>
          <a:xfrm>
            <a:off x="4058909" y="4947556"/>
            <a:ext cx="421258" cy="1090515"/>
          </a:xfrm>
          <a:prstGeom prst="straightConnector1">
            <a:avLst/>
          </a:prstGeom>
          <a:ln>
            <a:solidFill>
              <a:schemeClr val="bg1">
                <a:lumMod val="5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59" name="TextBox 58">
            <a:extLst>
              <a:ext uri="{FF2B5EF4-FFF2-40B4-BE49-F238E27FC236}">
                <a16:creationId xmlns:a16="http://schemas.microsoft.com/office/drawing/2014/main" id="{C5DB2100-B0A7-859E-A138-CCB016D1B00E}"/>
              </a:ext>
            </a:extLst>
          </p:cNvPr>
          <p:cNvSpPr txBox="1"/>
          <p:nvPr/>
        </p:nvSpPr>
        <p:spPr>
          <a:xfrm>
            <a:off x="3486562" y="4613065"/>
            <a:ext cx="993605" cy="369332"/>
          </a:xfrm>
          <a:prstGeom prst="rect">
            <a:avLst/>
          </a:prstGeom>
          <a:noFill/>
        </p:spPr>
        <p:txBody>
          <a:bodyPr wrap="square" rtlCol="0">
            <a:spAutoFit/>
          </a:bodyPr>
          <a:lstStyle/>
          <a:p>
            <a:r>
              <a:rPr lang="en-US" dirty="0"/>
              <a:t>Platform</a:t>
            </a:r>
            <a:endParaRPr lang="en-GB"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70DFC902-7D23-471A-B557-B6B6917D7A0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 y="-5705"/>
            <a:ext cx="9143993" cy="1694346"/>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67638" y="637762"/>
            <a:ext cx="7416372" cy="900131"/>
          </a:xfrm>
        </p:spPr>
        <p:txBody>
          <a:bodyPr anchor="t">
            <a:normAutofit/>
          </a:bodyPr>
          <a:lstStyle/>
          <a:p>
            <a:pPr algn="l"/>
            <a:r>
              <a:rPr lang="en-GB" sz="3500">
                <a:solidFill>
                  <a:schemeClr val="bg1"/>
                </a:solidFill>
              </a:rPr>
              <a:t>Systems Development</a:t>
            </a:r>
          </a:p>
        </p:txBody>
      </p:sp>
      <p:sp>
        <p:nvSpPr>
          <p:cNvPr id="10" name="Rectangle 9">
            <a:extLst>
              <a:ext uri="{FF2B5EF4-FFF2-40B4-BE49-F238E27FC236}">
                <a16:creationId xmlns:a16="http://schemas.microsoft.com/office/drawing/2014/main" id="{A55D5633-D557-4DCA-982C-FF36EB7A1C0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688641"/>
            <a:ext cx="9143992" cy="516935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450D3AD2-FA80-415F-A9CE-54D884561C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67638" y="2010758"/>
            <a:ext cx="342892" cy="4571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p:cNvSpPr>
            <a:spLocks noGrp="1"/>
          </p:cNvSpPr>
          <p:nvPr>
            <p:ph idx="1"/>
          </p:nvPr>
        </p:nvSpPr>
        <p:spPr>
          <a:xfrm>
            <a:off x="866661" y="2217343"/>
            <a:ext cx="7410669" cy="3959619"/>
          </a:xfrm>
        </p:spPr>
        <p:txBody>
          <a:bodyPr>
            <a:normAutofit/>
          </a:bodyPr>
          <a:lstStyle/>
          <a:p>
            <a:pPr marL="0" indent="0">
              <a:buNone/>
            </a:pPr>
            <a:r>
              <a:rPr lang="en-US" sz="2100"/>
              <a:t>The project will include several needed systems such as pause menu, settings menu, audio system and post processing effects. I also want to add a music visualizer which reacts to audio using spectrum data, affecting bloom and lens distortion to make the music synergize with the game giving a cool experience. UI systems will likely require an EventSystem to function correctly. Another system that will also be needed is a death counter and maybe a taunting system that further rage baits players.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70DFC902-7D23-471A-B557-B6B6917D7A0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 y="-5705"/>
            <a:ext cx="9143993" cy="1694346"/>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67638" y="637762"/>
            <a:ext cx="7416372" cy="900131"/>
          </a:xfrm>
        </p:spPr>
        <p:txBody>
          <a:bodyPr anchor="t">
            <a:normAutofit/>
          </a:bodyPr>
          <a:lstStyle/>
          <a:p>
            <a:pPr algn="l"/>
            <a:r>
              <a:rPr lang="en-GB" sz="3500">
                <a:solidFill>
                  <a:schemeClr val="bg1"/>
                </a:solidFill>
              </a:rPr>
              <a:t>Annotated Screenshot</a:t>
            </a:r>
          </a:p>
        </p:txBody>
      </p:sp>
      <p:sp>
        <p:nvSpPr>
          <p:cNvPr id="10" name="Rectangle 9">
            <a:extLst>
              <a:ext uri="{FF2B5EF4-FFF2-40B4-BE49-F238E27FC236}">
                <a16:creationId xmlns:a16="http://schemas.microsoft.com/office/drawing/2014/main" id="{A55D5633-D557-4DCA-982C-FF36EB7A1C0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688641"/>
            <a:ext cx="9143992" cy="516935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450D3AD2-FA80-415F-A9CE-54D884561C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67638" y="2010758"/>
            <a:ext cx="342892" cy="4571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p:cNvSpPr>
            <a:spLocks noGrp="1"/>
          </p:cNvSpPr>
          <p:nvPr>
            <p:ph idx="1"/>
          </p:nvPr>
        </p:nvSpPr>
        <p:spPr>
          <a:xfrm>
            <a:off x="866661" y="2217343"/>
            <a:ext cx="7410669" cy="3959619"/>
          </a:xfrm>
        </p:spPr>
        <p:txBody>
          <a:bodyPr>
            <a:normAutofit/>
          </a:bodyPr>
          <a:lstStyle/>
          <a:p>
            <a:pPr marL="0" indent="0">
              <a:buNone/>
            </a:pPr>
            <a:r>
              <a:rPr lang="en-US" sz="2100" dirty="0"/>
              <a:t>Example gameplay screens showing player, obstacles and UI. Annotations highlight core systems.</a:t>
            </a:r>
          </a:p>
        </p:txBody>
      </p:sp>
      <p:pic>
        <p:nvPicPr>
          <p:cNvPr id="88" name="Picture 87">
            <a:extLst>
              <a:ext uri="{FF2B5EF4-FFF2-40B4-BE49-F238E27FC236}">
                <a16:creationId xmlns:a16="http://schemas.microsoft.com/office/drawing/2014/main" id="{35F499BD-3606-CB64-EE53-2A470321A0C1}"/>
              </a:ext>
            </a:extLst>
          </p:cNvPr>
          <p:cNvPicPr>
            <a:picLocks noChangeAspect="1"/>
          </p:cNvPicPr>
          <p:nvPr/>
        </p:nvPicPr>
        <p:blipFill>
          <a:blip r:embed="rId2"/>
          <a:srcRect t="4356"/>
          <a:stretch>
            <a:fillRect/>
          </a:stretch>
        </p:blipFill>
        <p:spPr>
          <a:xfrm>
            <a:off x="1328048" y="3021952"/>
            <a:ext cx="2971367" cy="1597868"/>
          </a:xfrm>
          <a:prstGeom prst="rect">
            <a:avLst/>
          </a:prstGeom>
        </p:spPr>
      </p:pic>
      <p:cxnSp>
        <p:nvCxnSpPr>
          <p:cNvPr id="89" name="Straight Arrow Connector 88">
            <a:extLst>
              <a:ext uri="{FF2B5EF4-FFF2-40B4-BE49-F238E27FC236}">
                <a16:creationId xmlns:a16="http://schemas.microsoft.com/office/drawing/2014/main" id="{C0BF7129-63E6-6DFF-F7DB-489BAB163761}"/>
              </a:ext>
            </a:extLst>
          </p:cNvPr>
          <p:cNvCxnSpPr>
            <a:cxnSpLocks/>
          </p:cNvCxnSpPr>
          <p:nvPr/>
        </p:nvCxnSpPr>
        <p:spPr>
          <a:xfrm flipH="1">
            <a:off x="4224875" y="3427777"/>
            <a:ext cx="1497563" cy="21029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AED6F7CD-8E3B-8A1B-BC9C-D12B6B00EB89}"/>
              </a:ext>
            </a:extLst>
          </p:cNvPr>
          <p:cNvCxnSpPr>
            <a:cxnSpLocks/>
          </p:cNvCxnSpPr>
          <p:nvPr/>
        </p:nvCxnSpPr>
        <p:spPr>
          <a:xfrm>
            <a:off x="719567" y="3679209"/>
            <a:ext cx="1945433" cy="28939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DE15FD0A-C897-9EBD-BA35-A817812F2EF1}"/>
              </a:ext>
            </a:extLst>
          </p:cNvPr>
          <p:cNvCxnSpPr>
            <a:cxnSpLocks/>
          </p:cNvCxnSpPr>
          <p:nvPr/>
        </p:nvCxnSpPr>
        <p:spPr>
          <a:xfrm flipH="1">
            <a:off x="3248163" y="4220529"/>
            <a:ext cx="1763486" cy="33723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92" name="TextBox 91">
            <a:extLst>
              <a:ext uri="{FF2B5EF4-FFF2-40B4-BE49-F238E27FC236}">
                <a16:creationId xmlns:a16="http://schemas.microsoft.com/office/drawing/2014/main" id="{98E5F71B-A504-7379-3E70-E1E3A0F9608E}"/>
              </a:ext>
            </a:extLst>
          </p:cNvPr>
          <p:cNvSpPr txBox="1"/>
          <p:nvPr/>
        </p:nvSpPr>
        <p:spPr>
          <a:xfrm>
            <a:off x="5402252" y="3108236"/>
            <a:ext cx="1046505" cy="369332"/>
          </a:xfrm>
          <a:prstGeom prst="rect">
            <a:avLst/>
          </a:prstGeom>
          <a:noFill/>
        </p:spPr>
        <p:txBody>
          <a:bodyPr wrap="square" rtlCol="0">
            <a:spAutoFit/>
          </a:bodyPr>
          <a:lstStyle/>
          <a:p>
            <a:r>
              <a:rPr lang="en-US" dirty="0"/>
              <a:t>Platform </a:t>
            </a:r>
            <a:endParaRPr lang="en-GB" dirty="0"/>
          </a:p>
        </p:txBody>
      </p:sp>
      <p:sp>
        <p:nvSpPr>
          <p:cNvPr id="93" name="TextBox 92">
            <a:extLst>
              <a:ext uri="{FF2B5EF4-FFF2-40B4-BE49-F238E27FC236}">
                <a16:creationId xmlns:a16="http://schemas.microsoft.com/office/drawing/2014/main" id="{528CDA7E-3668-9853-6D36-FF6EACADF5CC}"/>
              </a:ext>
            </a:extLst>
          </p:cNvPr>
          <p:cNvSpPr txBox="1"/>
          <p:nvPr/>
        </p:nvSpPr>
        <p:spPr>
          <a:xfrm>
            <a:off x="393877" y="3321698"/>
            <a:ext cx="812338" cy="369332"/>
          </a:xfrm>
          <a:prstGeom prst="rect">
            <a:avLst/>
          </a:prstGeom>
          <a:noFill/>
        </p:spPr>
        <p:txBody>
          <a:bodyPr wrap="square" rtlCol="0">
            <a:spAutoFit/>
          </a:bodyPr>
          <a:lstStyle/>
          <a:p>
            <a:r>
              <a:rPr lang="en-US" dirty="0"/>
              <a:t>Player </a:t>
            </a:r>
            <a:endParaRPr lang="en-GB" dirty="0"/>
          </a:p>
        </p:txBody>
      </p:sp>
      <p:sp>
        <p:nvSpPr>
          <p:cNvPr id="94" name="TextBox 93">
            <a:extLst>
              <a:ext uri="{FF2B5EF4-FFF2-40B4-BE49-F238E27FC236}">
                <a16:creationId xmlns:a16="http://schemas.microsoft.com/office/drawing/2014/main" id="{8C1B7D22-23AA-547D-CA7F-2F501D646807}"/>
              </a:ext>
            </a:extLst>
          </p:cNvPr>
          <p:cNvSpPr txBox="1"/>
          <p:nvPr/>
        </p:nvSpPr>
        <p:spPr>
          <a:xfrm>
            <a:off x="4421248" y="3899607"/>
            <a:ext cx="1301190" cy="369332"/>
          </a:xfrm>
          <a:prstGeom prst="rect">
            <a:avLst/>
          </a:prstGeom>
          <a:noFill/>
        </p:spPr>
        <p:txBody>
          <a:bodyPr wrap="square" rtlCol="0">
            <a:spAutoFit/>
          </a:bodyPr>
          <a:lstStyle/>
          <a:p>
            <a:r>
              <a:rPr lang="en-US" dirty="0"/>
              <a:t>Death zone </a:t>
            </a:r>
            <a:endParaRPr lang="en-GB" dirty="0"/>
          </a:p>
        </p:txBody>
      </p:sp>
      <p:sp>
        <p:nvSpPr>
          <p:cNvPr id="95" name="Rectangle 94">
            <a:extLst>
              <a:ext uri="{FF2B5EF4-FFF2-40B4-BE49-F238E27FC236}">
                <a16:creationId xmlns:a16="http://schemas.microsoft.com/office/drawing/2014/main" id="{C35737FD-DC43-3B7C-FA6C-414EF8EEBADD}"/>
              </a:ext>
            </a:extLst>
          </p:cNvPr>
          <p:cNvSpPr/>
          <p:nvPr/>
        </p:nvSpPr>
        <p:spPr>
          <a:xfrm>
            <a:off x="3856644" y="3114645"/>
            <a:ext cx="265073" cy="444303"/>
          </a:xfrm>
          <a:prstGeom prst="rect">
            <a:avLst/>
          </a:prstGeom>
          <a:solidFill>
            <a:srgbClr val="00B050"/>
          </a:solidFill>
          <a:ln>
            <a:solidFill>
              <a:srgbClr val="00B05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GB"/>
          </a:p>
        </p:txBody>
      </p:sp>
      <p:cxnSp>
        <p:nvCxnSpPr>
          <p:cNvPr id="96" name="Straight Arrow Connector 95">
            <a:extLst>
              <a:ext uri="{FF2B5EF4-FFF2-40B4-BE49-F238E27FC236}">
                <a16:creationId xmlns:a16="http://schemas.microsoft.com/office/drawing/2014/main" id="{E4A7C79D-22CB-337C-FE92-9FA85D4E4A3F}"/>
              </a:ext>
            </a:extLst>
          </p:cNvPr>
          <p:cNvCxnSpPr>
            <a:cxnSpLocks/>
          </p:cNvCxnSpPr>
          <p:nvPr/>
        </p:nvCxnSpPr>
        <p:spPr>
          <a:xfrm flipH="1">
            <a:off x="3989180" y="3179772"/>
            <a:ext cx="605321" cy="13568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97" name="TextBox 96">
            <a:extLst>
              <a:ext uri="{FF2B5EF4-FFF2-40B4-BE49-F238E27FC236}">
                <a16:creationId xmlns:a16="http://schemas.microsoft.com/office/drawing/2014/main" id="{BE661D5A-73F0-6304-81C0-A24000521EED}"/>
              </a:ext>
            </a:extLst>
          </p:cNvPr>
          <p:cNvSpPr txBox="1"/>
          <p:nvPr/>
        </p:nvSpPr>
        <p:spPr>
          <a:xfrm>
            <a:off x="4571475" y="2956644"/>
            <a:ext cx="1046505" cy="369332"/>
          </a:xfrm>
          <a:prstGeom prst="rect">
            <a:avLst/>
          </a:prstGeom>
          <a:noFill/>
        </p:spPr>
        <p:txBody>
          <a:bodyPr wrap="square" rtlCol="0">
            <a:spAutoFit/>
          </a:bodyPr>
          <a:lstStyle/>
          <a:p>
            <a:r>
              <a:rPr lang="en-US" dirty="0"/>
              <a:t>Exit </a:t>
            </a:r>
            <a:endParaRPr lang="en-GB" dirty="0"/>
          </a:p>
        </p:txBody>
      </p:sp>
      <p:pic>
        <p:nvPicPr>
          <p:cNvPr id="98" name="Picture 97">
            <a:extLst>
              <a:ext uri="{FF2B5EF4-FFF2-40B4-BE49-F238E27FC236}">
                <a16:creationId xmlns:a16="http://schemas.microsoft.com/office/drawing/2014/main" id="{EFD5A6AD-A84B-B8F8-E3B1-6672817C93D1}"/>
              </a:ext>
            </a:extLst>
          </p:cNvPr>
          <p:cNvPicPr>
            <a:picLocks noChangeAspect="1"/>
          </p:cNvPicPr>
          <p:nvPr/>
        </p:nvPicPr>
        <p:blipFill>
          <a:blip r:embed="rId3"/>
          <a:stretch>
            <a:fillRect/>
          </a:stretch>
        </p:blipFill>
        <p:spPr>
          <a:xfrm>
            <a:off x="5245567" y="4910093"/>
            <a:ext cx="3479666" cy="1943985"/>
          </a:xfrm>
          <a:prstGeom prst="rect">
            <a:avLst/>
          </a:prstGeom>
        </p:spPr>
      </p:pic>
      <p:cxnSp>
        <p:nvCxnSpPr>
          <p:cNvPr id="99" name="Straight Arrow Connector 98">
            <a:extLst>
              <a:ext uri="{FF2B5EF4-FFF2-40B4-BE49-F238E27FC236}">
                <a16:creationId xmlns:a16="http://schemas.microsoft.com/office/drawing/2014/main" id="{7CD9349F-972F-4576-A5E8-BAEDFC3CFA95}"/>
              </a:ext>
            </a:extLst>
          </p:cNvPr>
          <p:cNvCxnSpPr>
            <a:cxnSpLocks/>
          </p:cNvCxnSpPr>
          <p:nvPr/>
        </p:nvCxnSpPr>
        <p:spPr>
          <a:xfrm flipH="1">
            <a:off x="6821895" y="4297934"/>
            <a:ext cx="387113" cy="96677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00" name="TextBox 99">
            <a:extLst>
              <a:ext uri="{FF2B5EF4-FFF2-40B4-BE49-F238E27FC236}">
                <a16:creationId xmlns:a16="http://schemas.microsoft.com/office/drawing/2014/main" id="{5A44788E-F0EB-2D4D-AC7B-F0C45AE95321}"/>
              </a:ext>
            </a:extLst>
          </p:cNvPr>
          <p:cNvSpPr txBox="1"/>
          <p:nvPr/>
        </p:nvSpPr>
        <p:spPr>
          <a:xfrm>
            <a:off x="3396171" y="5097571"/>
            <a:ext cx="1675823" cy="646331"/>
          </a:xfrm>
          <a:prstGeom prst="rect">
            <a:avLst/>
          </a:prstGeom>
          <a:noFill/>
        </p:spPr>
        <p:txBody>
          <a:bodyPr wrap="square" rtlCol="0">
            <a:spAutoFit/>
          </a:bodyPr>
          <a:lstStyle/>
          <a:p>
            <a:pPr algn="ctr"/>
            <a:r>
              <a:rPr lang="en-US" dirty="0"/>
              <a:t>Basic Main</a:t>
            </a:r>
          </a:p>
          <a:p>
            <a:r>
              <a:rPr lang="en-US" dirty="0"/>
              <a:t> menu features </a:t>
            </a:r>
            <a:endParaRPr lang="en-GB" dirty="0"/>
          </a:p>
        </p:txBody>
      </p:sp>
      <p:cxnSp>
        <p:nvCxnSpPr>
          <p:cNvPr id="101" name="Straight Arrow Connector 100">
            <a:extLst>
              <a:ext uri="{FF2B5EF4-FFF2-40B4-BE49-F238E27FC236}">
                <a16:creationId xmlns:a16="http://schemas.microsoft.com/office/drawing/2014/main" id="{D3B011FE-283B-6E10-93DF-E6C1D9F9F1D7}"/>
              </a:ext>
            </a:extLst>
          </p:cNvPr>
          <p:cNvCxnSpPr>
            <a:cxnSpLocks/>
          </p:cNvCxnSpPr>
          <p:nvPr/>
        </p:nvCxnSpPr>
        <p:spPr>
          <a:xfrm>
            <a:off x="4694408" y="5405517"/>
            <a:ext cx="1922106" cy="35082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02" name="Straight Arrow Connector 101">
            <a:extLst>
              <a:ext uri="{FF2B5EF4-FFF2-40B4-BE49-F238E27FC236}">
                <a16:creationId xmlns:a16="http://schemas.microsoft.com/office/drawing/2014/main" id="{8A48BD43-C37D-36C3-BF23-8644256F9F79}"/>
              </a:ext>
            </a:extLst>
          </p:cNvPr>
          <p:cNvCxnSpPr>
            <a:cxnSpLocks/>
          </p:cNvCxnSpPr>
          <p:nvPr/>
        </p:nvCxnSpPr>
        <p:spPr>
          <a:xfrm>
            <a:off x="4694408" y="5405517"/>
            <a:ext cx="1866122" cy="62911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03" name="Straight Arrow Connector 102">
            <a:extLst>
              <a:ext uri="{FF2B5EF4-FFF2-40B4-BE49-F238E27FC236}">
                <a16:creationId xmlns:a16="http://schemas.microsoft.com/office/drawing/2014/main" id="{099642C9-74D0-A196-5DFD-F4B13B42419F}"/>
              </a:ext>
            </a:extLst>
          </p:cNvPr>
          <p:cNvCxnSpPr>
            <a:cxnSpLocks/>
          </p:cNvCxnSpPr>
          <p:nvPr/>
        </p:nvCxnSpPr>
        <p:spPr>
          <a:xfrm>
            <a:off x="4727065" y="5405517"/>
            <a:ext cx="1833465" cy="96298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04" name="TextBox 103">
            <a:extLst>
              <a:ext uri="{FF2B5EF4-FFF2-40B4-BE49-F238E27FC236}">
                <a16:creationId xmlns:a16="http://schemas.microsoft.com/office/drawing/2014/main" id="{42CDB65D-1535-203C-792F-8AC17F2EC542}"/>
              </a:ext>
            </a:extLst>
          </p:cNvPr>
          <p:cNvSpPr txBox="1"/>
          <p:nvPr/>
        </p:nvSpPr>
        <p:spPr>
          <a:xfrm>
            <a:off x="6931764" y="3967641"/>
            <a:ext cx="1046505" cy="369332"/>
          </a:xfrm>
          <a:prstGeom prst="rect">
            <a:avLst/>
          </a:prstGeom>
          <a:noFill/>
        </p:spPr>
        <p:txBody>
          <a:bodyPr wrap="square" rtlCol="0">
            <a:spAutoFit/>
          </a:bodyPr>
          <a:lstStyle/>
          <a:p>
            <a:r>
              <a:rPr lang="en-US" dirty="0"/>
              <a:t>Title </a:t>
            </a:r>
            <a:endParaRPr lang="en-GB" dirty="0"/>
          </a:p>
        </p:txBody>
      </p:sp>
      <p:cxnSp>
        <p:nvCxnSpPr>
          <p:cNvPr id="105" name="Straight Arrow Connector 104">
            <a:extLst>
              <a:ext uri="{FF2B5EF4-FFF2-40B4-BE49-F238E27FC236}">
                <a16:creationId xmlns:a16="http://schemas.microsoft.com/office/drawing/2014/main" id="{0829846D-6239-C279-DC75-3AF0B69550C8}"/>
              </a:ext>
            </a:extLst>
          </p:cNvPr>
          <p:cNvCxnSpPr>
            <a:cxnSpLocks/>
          </p:cNvCxnSpPr>
          <p:nvPr/>
        </p:nvCxnSpPr>
        <p:spPr>
          <a:xfrm flipH="1">
            <a:off x="7907356" y="4557762"/>
            <a:ext cx="387113" cy="96677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06" name="TextBox 105">
            <a:extLst>
              <a:ext uri="{FF2B5EF4-FFF2-40B4-BE49-F238E27FC236}">
                <a16:creationId xmlns:a16="http://schemas.microsoft.com/office/drawing/2014/main" id="{55A0BEBD-4AE6-FEEB-C401-0F65F87D9EE0}"/>
              </a:ext>
            </a:extLst>
          </p:cNvPr>
          <p:cNvSpPr txBox="1"/>
          <p:nvPr/>
        </p:nvSpPr>
        <p:spPr>
          <a:xfrm>
            <a:off x="7986599" y="3924691"/>
            <a:ext cx="1046505" cy="646331"/>
          </a:xfrm>
          <a:prstGeom prst="rect">
            <a:avLst/>
          </a:prstGeom>
          <a:noFill/>
        </p:spPr>
        <p:txBody>
          <a:bodyPr wrap="square" rtlCol="0">
            <a:spAutoFit/>
          </a:bodyPr>
          <a:lstStyle/>
          <a:p>
            <a:r>
              <a:rPr lang="en-US" dirty="0"/>
              <a:t>Cursor design </a:t>
            </a:r>
            <a:endParaRPr lang="en-GB" dirty="0"/>
          </a:p>
        </p:txBody>
      </p:sp>
      <p:pic>
        <p:nvPicPr>
          <p:cNvPr id="107" name="Picture 106">
            <a:extLst>
              <a:ext uri="{FF2B5EF4-FFF2-40B4-BE49-F238E27FC236}">
                <a16:creationId xmlns:a16="http://schemas.microsoft.com/office/drawing/2014/main" id="{1D368602-41C2-ED49-82D0-B85E33D643F4}"/>
              </a:ext>
            </a:extLst>
          </p:cNvPr>
          <p:cNvPicPr>
            <a:picLocks noChangeAspect="1"/>
          </p:cNvPicPr>
          <p:nvPr/>
        </p:nvPicPr>
        <p:blipFill>
          <a:blip r:embed="rId4"/>
          <a:stretch>
            <a:fillRect/>
          </a:stretch>
        </p:blipFill>
        <p:spPr>
          <a:xfrm>
            <a:off x="665072" y="5130870"/>
            <a:ext cx="2827176" cy="1578569"/>
          </a:xfrm>
          <a:prstGeom prst="rect">
            <a:avLst/>
          </a:prstGeom>
        </p:spPr>
      </p:pic>
      <p:cxnSp>
        <p:nvCxnSpPr>
          <p:cNvPr id="108" name="Straight Arrow Connector 107">
            <a:extLst>
              <a:ext uri="{FF2B5EF4-FFF2-40B4-BE49-F238E27FC236}">
                <a16:creationId xmlns:a16="http://schemas.microsoft.com/office/drawing/2014/main" id="{BA01D141-2BFD-672E-D70F-4C3D83B1055C}"/>
              </a:ext>
            </a:extLst>
          </p:cNvPr>
          <p:cNvCxnSpPr>
            <a:cxnSpLocks/>
          </p:cNvCxnSpPr>
          <p:nvPr/>
        </p:nvCxnSpPr>
        <p:spPr>
          <a:xfrm flipH="1" flipV="1">
            <a:off x="2377877" y="6154113"/>
            <a:ext cx="1471339" cy="27085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09" name="TextBox 108">
            <a:extLst>
              <a:ext uri="{FF2B5EF4-FFF2-40B4-BE49-F238E27FC236}">
                <a16:creationId xmlns:a16="http://schemas.microsoft.com/office/drawing/2014/main" id="{720E4349-95C0-F41C-0C58-D2600D0FAAB6}"/>
              </a:ext>
            </a:extLst>
          </p:cNvPr>
          <p:cNvSpPr txBox="1"/>
          <p:nvPr/>
        </p:nvSpPr>
        <p:spPr>
          <a:xfrm>
            <a:off x="3896796" y="6101801"/>
            <a:ext cx="1301190" cy="646331"/>
          </a:xfrm>
          <a:prstGeom prst="rect">
            <a:avLst/>
          </a:prstGeom>
          <a:noFill/>
        </p:spPr>
        <p:txBody>
          <a:bodyPr wrap="square" rtlCol="0">
            <a:spAutoFit/>
          </a:bodyPr>
          <a:lstStyle/>
          <a:p>
            <a:r>
              <a:rPr lang="en-US" dirty="0"/>
              <a:t>Volume control</a:t>
            </a:r>
            <a:endParaRPr lang="en-GB" dirty="0"/>
          </a:p>
        </p:txBody>
      </p:sp>
      <p:cxnSp>
        <p:nvCxnSpPr>
          <p:cNvPr id="110" name="Straight Arrow Connector 109">
            <a:extLst>
              <a:ext uri="{FF2B5EF4-FFF2-40B4-BE49-F238E27FC236}">
                <a16:creationId xmlns:a16="http://schemas.microsoft.com/office/drawing/2014/main" id="{198CADC8-4B41-826A-4126-058E7CB9FB07}"/>
              </a:ext>
            </a:extLst>
          </p:cNvPr>
          <p:cNvCxnSpPr>
            <a:cxnSpLocks/>
          </p:cNvCxnSpPr>
          <p:nvPr/>
        </p:nvCxnSpPr>
        <p:spPr>
          <a:xfrm>
            <a:off x="897284" y="4910093"/>
            <a:ext cx="1003708" cy="53633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11" name="TextBox 110">
            <a:extLst>
              <a:ext uri="{FF2B5EF4-FFF2-40B4-BE49-F238E27FC236}">
                <a16:creationId xmlns:a16="http://schemas.microsoft.com/office/drawing/2014/main" id="{80A0C6A4-5569-31D1-3144-F04210D5BCBA}"/>
              </a:ext>
            </a:extLst>
          </p:cNvPr>
          <p:cNvSpPr txBox="1"/>
          <p:nvPr/>
        </p:nvSpPr>
        <p:spPr>
          <a:xfrm>
            <a:off x="-38881" y="4234596"/>
            <a:ext cx="1675823" cy="646331"/>
          </a:xfrm>
          <a:prstGeom prst="rect">
            <a:avLst/>
          </a:prstGeom>
          <a:noFill/>
        </p:spPr>
        <p:txBody>
          <a:bodyPr wrap="square" rtlCol="0">
            <a:spAutoFit/>
          </a:bodyPr>
          <a:lstStyle/>
          <a:p>
            <a:pPr algn="ctr"/>
            <a:r>
              <a:rPr lang="en-US" dirty="0"/>
              <a:t>Graphical</a:t>
            </a:r>
          </a:p>
          <a:p>
            <a:pPr algn="ctr"/>
            <a:r>
              <a:rPr lang="en-US" dirty="0"/>
              <a:t>settings</a:t>
            </a:r>
            <a:endParaRPr lang="en-GB"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Slide Background">
            <a:extLst>
              <a:ext uri="{FF2B5EF4-FFF2-40B4-BE49-F238E27FC236}">
                <a16:creationId xmlns:a16="http://schemas.microsoft.com/office/drawing/2014/main" id="{3ECBE1F1-D69B-4AFA-ABD5-8E41720EF6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Closeup of a keyboard">
            <a:extLst>
              <a:ext uri="{FF2B5EF4-FFF2-40B4-BE49-F238E27FC236}">
                <a16:creationId xmlns:a16="http://schemas.microsoft.com/office/drawing/2014/main" id="{777E1F44-7085-7FE8-D113-16A145B0145E}"/>
              </a:ext>
            </a:extLst>
          </p:cNvPr>
          <p:cNvPicPr>
            <a:picLocks noChangeAspect="1"/>
          </p:cNvPicPr>
          <p:nvPr/>
        </p:nvPicPr>
        <p:blipFill>
          <a:blip r:embed="rId2"/>
          <a:srcRect l="20819" r="40871" b="1"/>
          <a:stretch>
            <a:fillRect/>
          </a:stretch>
        </p:blipFill>
        <p:spPr>
          <a:xfrm>
            <a:off x="20" y="-2"/>
            <a:ext cx="4057627" cy="6858002"/>
          </a:xfrm>
          <a:prstGeom prst="rect">
            <a:avLst/>
          </a:prstGeom>
        </p:spPr>
      </p:pic>
      <p:sp useBgFill="1">
        <p:nvSpPr>
          <p:cNvPr id="11" name="Rectangle 10">
            <a:extLst>
              <a:ext uri="{FF2B5EF4-FFF2-40B4-BE49-F238E27FC236}">
                <a16:creationId xmlns:a16="http://schemas.microsoft.com/office/drawing/2014/main" id="{603A6265-E10C-4B85-9C20-E75FCAF9CC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57647" y="-1"/>
            <a:ext cx="5086352" cy="2286000"/>
          </a:xfrm>
          <a:prstGeom prst="rect">
            <a:avLst/>
          </a:prstGeom>
          <a:ln>
            <a:noFill/>
          </a:ln>
          <a:effectLst>
            <a:outerShdw blurRad="355600" dist="152400" sx="95000" sy="95000" algn="t" rotWithShape="0">
              <a:srgbClr val="000000">
                <a:alpha val="29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p:cNvSpPr>
            <a:spLocks noGrp="1"/>
          </p:cNvSpPr>
          <p:nvPr>
            <p:ph idx="1"/>
          </p:nvPr>
        </p:nvSpPr>
        <p:spPr>
          <a:xfrm>
            <a:off x="4586487" y="2743200"/>
            <a:ext cx="3935505" cy="3496878"/>
          </a:xfrm>
        </p:spPr>
        <p:txBody>
          <a:bodyPr anchor="ctr">
            <a:normAutofit/>
          </a:bodyPr>
          <a:lstStyle/>
          <a:p>
            <a:pPr marL="0" indent="0">
              <a:lnSpc>
                <a:spcPct val="90000"/>
              </a:lnSpc>
              <a:buNone/>
            </a:pPr>
            <a:r>
              <a:rPr lang="en-US" sz="1600"/>
              <a:t>Several issues occurred during development. UI did not work due to missing EventSystems. Cursor blocked buttons as I used a cursor image to have post processing affect the cursor so clicks did not register due to raycast settings. Settings did not save between scenes, which was fixed using PlayerPrefs or a persistent manager. I also had issues with level design as I was stuck on what to make that could be challenging for players, so I went back on geometry dash and used a few levels as inspiration form the new platformer mode. Each problem was tested and solved step by step.</a:t>
            </a:r>
          </a:p>
        </p:txBody>
      </p:sp>
      <p:sp>
        <p:nvSpPr>
          <p:cNvPr id="4" name="Rectangle 3">
            <a:extLst>
              <a:ext uri="{FF2B5EF4-FFF2-40B4-BE49-F238E27FC236}">
                <a16:creationId xmlns:a16="http://schemas.microsoft.com/office/drawing/2014/main" id="{2973AB57-2D8A-1364-1589-E93B2C47A564}"/>
              </a:ext>
            </a:extLst>
          </p:cNvPr>
          <p:cNvSpPr/>
          <p:nvPr/>
        </p:nvSpPr>
        <p:spPr>
          <a:xfrm>
            <a:off x="4057647" y="-2"/>
            <a:ext cx="5086353" cy="2286000"/>
          </a:xfrm>
          <a:prstGeom prst="rect">
            <a:avLst/>
          </a:prstGeom>
          <a:solidFill>
            <a:srgbClr val="262626"/>
          </a:solidFill>
          <a:ln>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GB"/>
          </a:p>
        </p:txBody>
      </p:sp>
      <p:sp>
        <p:nvSpPr>
          <p:cNvPr id="2" name="Title 1"/>
          <p:cNvSpPr>
            <a:spLocks noGrp="1"/>
          </p:cNvSpPr>
          <p:nvPr>
            <p:ph type="title"/>
          </p:nvPr>
        </p:nvSpPr>
        <p:spPr>
          <a:xfrm>
            <a:off x="4586487" y="405685"/>
            <a:ext cx="4098726" cy="1559301"/>
          </a:xfrm>
        </p:spPr>
        <p:txBody>
          <a:bodyPr>
            <a:normAutofit/>
          </a:bodyPr>
          <a:lstStyle/>
          <a:p>
            <a:r>
              <a:rPr lang="en-GB" sz="3500" dirty="0">
                <a:solidFill>
                  <a:schemeClr val="bg1"/>
                </a:solidFill>
              </a:rPr>
              <a:t>Problems and Solutions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47</TotalTime>
  <Words>610</Words>
  <Application>Microsoft Office PowerPoint</Application>
  <PresentationFormat>On-screen Show (4:3)</PresentationFormat>
  <Paragraphs>42</Paragraphs>
  <Slides>8</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vt:i4>
      </vt:variant>
    </vt:vector>
  </HeadingPairs>
  <TitlesOfParts>
    <vt:vector size="12" baseType="lpstr">
      <vt:lpstr>Aptos</vt:lpstr>
      <vt:lpstr>Arial</vt:lpstr>
      <vt:lpstr>Calibri</vt:lpstr>
      <vt:lpstr>Office Theme</vt:lpstr>
      <vt:lpstr>Design Document Prototype 1</vt:lpstr>
      <vt:lpstr>Game Mechanics</vt:lpstr>
      <vt:lpstr>Objectives</vt:lpstr>
      <vt:lpstr>Core Gameplay Loop</vt:lpstr>
      <vt:lpstr>Level Design</vt:lpstr>
      <vt:lpstr>Systems Development</vt:lpstr>
      <vt:lpstr>Annotated Screenshot</vt:lpstr>
      <vt:lpstr>Problems and Solutions</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Edgar Pereira</cp:lastModifiedBy>
  <cp:revision>3</cp:revision>
  <dcterms:created xsi:type="dcterms:W3CDTF">2013-01-27T09:14:16Z</dcterms:created>
  <dcterms:modified xsi:type="dcterms:W3CDTF">2026-05-02T20:46:38Z</dcterms:modified>
  <cp:category/>
</cp:coreProperties>
</file>